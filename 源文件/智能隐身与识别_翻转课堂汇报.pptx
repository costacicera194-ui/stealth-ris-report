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5" r:id="rId5"/>
    <p:sldId id="286" r:id="rId6"/>
    <p:sldId id="259" r:id="rId7"/>
    <p:sldId id="260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6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建议用时：23秒。累计：0分23秒。</a:t>
            </a:r>
          </a:p>
          <a:p>
            <a:endParaRPr/>
          </a:p>
          <a:p>
            <a:r>
              <a:t>本次汇报讨论民用无人机轻量化总体方案，重点是如何把任务、平台、部件和验证联系起来。材料只是其中一个候选子模块。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建议用时：14秒。累计：0分37秒。</a:t>
            </a:r>
          </a:p>
          <a:p>
            <a:endParaRPr/>
          </a:p>
          <a:p>
            <a:r>
              <a:t>先从任务背景和约束出发，再介绍总体架构、各模块的工程职责、质量成本取舍以及分层验证思路。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建议用时：28秒。累计：1分5秒。</a:t>
            </a:r>
          </a:p>
          <a:p>
            <a:endParaRPr/>
          </a:p>
          <a:p>
            <a:r>
              <a:t>课程任务强调低成本量产、轻量化和便携性。成本要看制造与维护全流程，重量要看完整组件，便携性要看包装、展开和维护。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建议用时：28秒。累计：1分5秒。</a:t>
            </a:r>
          </a:p>
          <a:p>
            <a:endParaRPr/>
          </a:p>
          <a:p>
            <a:r>
              <a:t>课程任务强调低成本量产、轻量化和便携性。成本要看制造与维护全流程，重量要看完整组件，便携性要看包装、展开和维护。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6762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建议用时：28秒。累计：1分5秒。</a:t>
            </a:r>
          </a:p>
          <a:p>
            <a:endParaRPr/>
          </a:p>
          <a:p>
            <a:r>
              <a:t>课程任务强调低成本量产、轻量化和便携性。成本要看制造与维护全流程，重量要看完整组件，便携性要看包装、展开和维护。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724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建议用时：28秒。累计：1分33秒。</a:t>
            </a:r>
          </a:p>
          <a:p>
            <a:endParaRPr/>
          </a:p>
          <a:p>
            <a:r>
              <a:t>评价方案时不能只看单项性能。统一对象和验收条件后，再比较质量、制造成本、携带便利性和验证难度。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建议用时：27秒。累计：2分0秒。</a:t>
            </a:r>
          </a:p>
          <a:p>
            <a:endParaRPr/>
          </a:p>
          <a:p>
            <a:r>
              <a:t>总体方案先确定用途、载荷和运行边界，再协调结构、推进、电气接口和防护。任何局部材料变化都要放回整机权衡。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建议用时：33秒。累计：4分16秒。</a:t>
            </a:r>
          </a:p>
          <a:p>
            <a:endParaRPr/>
          </a:p>
          <a:p>
            <a:r>
              <a:t>这一页集中介绍功率守恒、反射与吸收指标的基本关系。指标必须和参考对象、条件及测量方法一起解释。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建议用时：41秒。累计：4分57秒。</a:t>
            </a:r>
          </a:p>
          <a:p>
            <a:endParaRPr/>
          </a:p>
          <a:p>
            <a:r>
              <a:t>外形和部件接口要兼顾结构强度、装配、散热、视场与飞行品质。设计假设需要和结构检查、飞行安全评估并行。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建议用时：42秒。累计：5分39秒。</a:t>
            </a:r>
          </a:p>
          <a:p>
            <a:endParaRPr/>
          </a:p>
          <a:p>
            <a:r>
              <a:t>结构集成不能只看材料单项数据，还要核对承载、线束与载荷布置、环境防护和维护可达性。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建议用时：38秒。累计：6分17秒。</a:t>
            </a:r>
          </a:p>
          <a:p>
            <a:endParaRPr/>
          </a:p>
          <a:p>
            <a:r>
              <a:t>验证按材料、部件和整机逐层推进。每一层都要说明测试对象、条件、重复性和结论边界，不能跨层级外推。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建议用时：32秒。累计：6分49秒。</a:t>
            </a:r>
          </a:p>
          <a:p>
            <a:endParaRPr/>
          </a:p>
          <a:p>
            <a:r>
              <a:t>性能数值只有在对象和条件清楚时才有比较意义。总体方案还要把质量、成本、便携性、飞行安全和维护影响一并记录。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建议用时：33秒。累计：7分22秒。</a:t>
            </a:r>
          </a:p>
          <a:p>
            <a:endParaRPr/>
          </a:p>
          <a:p>
            <a:r>
              <a:t>机体、推进、飞控、载荷、电源和通信承担不同职责。概念阶段关注接口与功能，不预设具体芯片型号。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建议用时：38秒。累计：8分0秒。</a:t>
            </a:r>
          </a:p>
          <a:p>
            <a:endParaRPr/>
          </a:p>
          <a:p>
            <a:r>
              <a:t>旋翼与电机属于关键运动部件。结构或质量变化可能影响振动、平衡、控制响应和可靠性，需在受控条件下逐级评估。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建议用时：29秒。累计：8分29秒。</a:t>
            </a:r>
          </a:p>
          <a:p>
            <a:endParaRPr/>
          </a:p>
          <a:p>
            <a:r>
              <a:t>吸波材料作为可选子模块，用来说明材料损耗和界面响应的概念。插图仅作原理示意，不代表特定产品结构或实测数据。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建议用时：28秒。累计：8分57秒。</a:t>
            </a:r>
          </a:p>
          <a:p>
            <a:endParaRPr/>
          </a:p>
          <a:p>
            <a:r>
              <a:t>Eccosorb AN作为商用材料案例，展示柔性泡沫材料的一种商品形态。它说明材料级评估思路，不代表整机方案或整机验证结果。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建议用时：32秒。累计：9分29秒。</a:t>
            </a:r>
          </a:p>
          <a:p>
            <a:endParaRPr/>
          </a:p>
          <a:p>
            <a:r>
              <a:t>材料集成要先检查基材相容、连接可靠、环境防护和后续维护。是否保留该模块，需结合部件级兼容性评估作决定。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建议用时：32秒。累计：10分1秒。</a:t>
            </a:r>
          </a:p>
          <a:p>
            <a:endParaRPr/>
          </a:p>
          <a:p>
            <a:r>
              <a:t>总体参数核算包含质量预算、飞行性能、电气与热、环境耐久和维护性。每项都要标注估算假设、质量余量和待验证内容。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建议用时：27秒。累计：10分28秒。</a:t>
            </a:r>
          </a:p>
          <a:p>
            <a:endParaRPr/>
          </a:p>
          <a:p>
            <a:r>
              <a:t>飞控导航、任务载荷、电源与通信构成必要功能链。概念方案强调接口、功率预算、散热、冗余与失效保护，不给出芯片选型。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建议用时：31秒。累计：10分59秒。</a:t>
            </a:r>
          </a:p>
          <a:p>
            <a:endParaRPr/>
          </a:p>
          <a:p>
            <a:r>
              <a:t>轻量化要计算材料、连接、载荷、防护和包装的完整质量，并检查重心、操纵、续航与结构裕度。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建议用时：29秒。累计：11分28秒。</a:t>
            </a:r>
          </a:p>
          <a:p>
            <a:endParaRPr/>
          </a:p>
          <a:p>
            <a:r>
              <a:t>低成本量产要考虑采购、加工、检验、包装、良率、返工和维护。稳定工艺与批次追溯有助于减少浪费。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建议用时：28秒。累计：11分56秒。</a:t>
            </a:r>
          </a:p>
          <a:p>
            <a:endParaRPr/>
          </a:p>
          <a:p>
            <a:r>
              <a:t>便携性不仅是重量，也包括包装体积、防潮、机械保护、展开时间和维护频次。方案要在运输与使用便利之间平衡。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建议用时：29秒。累计：12分25秒。</a:t>
            </a:r>
          </a:p>
          <a:p>
            <a:endParaRPr/>
          </a:p>
          <a:p>
            <a:r>
              <a:t>三项任务要求彼此牵制。防护会增加重量，减轻结构可能影响耐久，严格检验也会带来成本，需要整体权衡。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建议用时：33秒。累计：12分58秒。</a:t>
            </a:r>
          </a:p>
          <a:p>
            <a:endParaRPr/>
          </a:p>
          <a:p>
            <a:r>
              <a:t>验证从材料和部件的非飞行测试开始，再到结构、振动与环境检查。系统级验证须由具备资质的团队在受控环境中进行。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建议用时：26秒。累计：13分24秒。</a:t>
            </a:r>
          </a:p>
          <a:p>
            <a:endParaRPr/>
          </a:p>
          <a:p>
            <a:r>
              <a:t>这张概念图用于解释多孔结构和波传播路径，不是实验数据。材料分析应把成分、形貌和性能测试分开，再综合判断。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建议用时：29秒。累计：13分53秒。</a:t>
            </a:r>
          </a:p>
          <a:p>
            <a:endParaRPr/>
          </a:p>
          <a:p>
            <a:r>
              <a:t>旋翼和机体共同影响系统表现。任何部件变化都要核查平衡、振动、控制响应和故障处置，本次不讨论针对特定探测设备的配置或改造步骤。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建议用时：31秒。累计：14分24秒。</a:t>
            </a:r>
          </a:p>
          <a:p>
            <a:endParaRPr/>
          </a:p>
          <a:p>
            <a:r>
              <a:t>材料、部件和系统级证据支持不同范围的结论。课堂方案没有自有整机测试数据，因此只提出分层验证计划。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建议用时：31秒。累计：14分24秒。</a:t>
            </a:r>
          </a:p>
          <a:p>
            <a:endParaRPr/>
          </a:p>
          <a:p>
            <a:r>
              <a:t>材料、部件和系统级证据支持不同范围的结论。课堂方案没有自有整机测试数据，因此只提出分层验证计划。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85698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EB343DC-9E5F-4C38-89EB-FBD4EFF17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3" y="140481"/>
            <a:ext cx="3194092" cy="85556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9B0E25A-7B1A-48D3-B5A2-9551B9BC8D7D}"/>
              </a:ext>
            </a:extLst>
          </p:cNvPr>
          <p:cNvSpPr>
            <a:spLocks noGrp="1"/>
          </p:cNvSpPr>
          <p:nvPr/>
        </p:nvSpPr>
        <p:spPr>
          <a:xfrm>
            <a:off x="2228850" y="2492944"/>
            <a:ext cx="6915151" cy="4365057"/>
          </a:xfrm>
          <a:prstGeom prst="rect">
            <a:avLst/>
          </a:prstGeom>
          <a:blipFill rotWithShape="1">
            <a:blip r:embed="rId3">
              <a:alphaModFix amt="1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B254E3-2391-43BD-9A0B-039304BEB8E4}"/>
              </a:ext>
            </a:extLst>
          </p:cNvPr>
          <p:cNvSpPr>
            <a:spLocks noGrp="1"/>
          </p:cNvSpPr>
          <p:nvPr/>
        </p:nvSpPr>
        <p:spPr>
          <a:xfrm>
            <a:off x="179613" y="1798271"/>
            <a:ext cx="8792938" cy="15245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E0DA622-731C-4435-AEB3-D7B9E9E989D2}"/>
              </a:ext>
            </a:extLst>
          </p:cNvPr>
          <p:cNvSpPr>
            <a:spLocks noGrp="1"/>
          </p:cNvSpPr>
          <p:nvPr/>
        </p:nvSpPr>
        <p:spPr>
          <a:xfrm>
            <a:off x="2228850" y="2492944"/>
            <a:ext cx="6915151" cy="4365057"/>
          </a:xfrm>
          <a:prstGeom prst="rect">
            <a:avLst/>
          </a:prstGeom>
          <a:blipFill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anchor="ctr">
            <a:noAutofit/>
          </a:bodyPr>
          <a:lstStyle/>
          <a:p>
            <a:pPr algn="ctr">
              <a:buNone/>
            </a:pPr>
            <a:endParaRPr sz="13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90EF902-EBE7-44AA-AAA3-201CC7C2F65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48000" y="6311900"/>
            <a:ext cx="1712913" cy="290513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B6D33086-CE5C-43A2-AFC6-B149E37CEABC}" type="datetimeFigureOut">
              <a:t>2026/10/8</a:t>
            </a:fld>
            <a:endParaRPr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54FE45F-AA8E-4CF9-BC8E-2B2A7027CDB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830763" y="6323013"/>
            <a:ext cx="2311400" cy="29051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44BC863-96FB-4AF6-B2CB-800E7FAF84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116763" y="6323013"/>
            <a:ext cx="1616075" cy="290512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fld id="{44D419BC-9B4D-49F0-A82F-FD0EF74421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9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_item0">
            <a:extLst>
              <a:ext uri="{FF2B5EF4-FFF2-40B4-BE49-F238E27FC236}">
                <a16:creationId xmlns:a16="http://schemas.microsoft.com/office/drawing/2014/main" id="{C6E8A8BA-1D85-4FC1-8E15-0FD2BC11B23F}"/>
              </a:ext>
            </a:extLst>
          </p:cNvPr>
          <p:cNvSpPr>
            <a:spLocks noGrp="1"/>
          </p:cNvSpPr>
          <p:nvPr/>
        </p:nvSpPr>
        <p:spPr>
          <a:xfrm>
            <a:off x="1504950" y="5597186"/>
            <a:ext cx="5157181" cy="450893"/>
          </a:xfrm>
          <a:prstGeom prst="rect">
            <a:avLst/>
          </a:prstGeom>
        </p:spPr>
        <p:txBody>
          <a:bodyPr wrap="none" lIns="19050" tIns="19050" rIns="19050" bIns="19050" anchor="ctr">
            <a:spAutoFit/>
          </a:bodyPr>
          <a:lstStyle>
            <a:defPPr algn="l">
              <a:defRPr sz="2025" b="1">
                <a:solidFill>
                  <a:srgbClr val="B83314"/>
                </a:solidFill>
              </a:defRPr>
            </a:defPPr>
          </a:lstStyle>
          <a:p>
            <a:pPr algn="ctr"/>
            <a:r>
              <a:rPr sz="2000" b="1">
                <a:solidFill>
                  <a:srgbClr val="B83314"/>
                </a:solidFill>
                <a:latin typeface="Microsoft YaHei"/>
              </a:rPr>
              <a:t>小组成员：童靖凯 刘天宇 李源 郭向泓 胡淇</a:t>
            </a:r>
          </a:p>
        </p:txBody>
      </p:sp>
      <p:sp>
        <p:nvSpPr>
          <p:cNvPr id="3" name="slide1_item1">
            <a:extLst>
              <a:ext uri="{FF2B5EF4-FFF2-40B4-BE49-F238E27FC236}">
                <a16:creationId xmlns:a16="http://schemas.microsoft.com/office/drawing/2014/main" id="{B014AAFC-869C-4221-8083-B9808012849B}"/>
              </a:ext>
            </a:extLst>
          </p:cNvPr>
          <p:cNvSpPr>
            <a:spLocks noGrp="1"/>
          </p:cNvSpPr>
          <p:nvPr/>
        </p:nvSpPr>
        <p:spPr>
          <a:xfrm>
            <a:off x="613981" y="2090254"/>
            <a:ext cx="7916132" cy="59247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spAutoFit/>
          </a:bodyPr>
          <a:lstStyle>
            <a:defPPr algn="l">
              <a:defRPr sz="3600" b="1">
                <a:solidFill>
                  <a:srgbClr val="FFFFFF"/>
                </a:solidFill>
              </a:defRPr>
            </a:defPPr>
          </a:lstStyle>
          <a:p>
            <a:pPr algn="ctr"/>
            <a:r>
              <a:rPr sz="3400" b="1">
                <a:solidFill>
                  <a:srgbClr val="FFFFFF"/>
                </a:solidFill>
                <a:latin typeface="Microsoft YaHei"/>
              </a:rPr>
              <a:t>电子对抗视角下的智能隐身与伪装</a:t>
            </a:r>
          </a:p>
        </p:txBody>
      </p:sp>
      <p:sp>
        <p:nvSpPr>
          <p:cNvPr id="4" name="slide1_item2">
            <a:extLst>
              <a:ext uri="{FF2B5EF4-FFF2-40B4-BE49-F238E27FC236}">
                <a16:creationId xmlns:a16="http://schemas.microsoft.com/office/drawing/2014/main" id="{B6D5F6A6-B92A-493E-BD8C-820403A6F267}"/>
              </a:ext>
            </a:extLst>
          </p:cNvPr>
          <p:cNvSpPr>
            <a:spLocks noGrp="1"/>
          </p:cNvSpPr>
          <p:nvPr/>
        </p:nvSpPr>
        <p:spPr>
          <a:xfrm>
            <a:off x="981075" y="3590925"/>
            <a:ext cx="7667625" cy="6286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l">
              <a:defRPr sz="2250" b="1">
                <a:solidFill>
                  <a:srgbClr val="446C89"/>
                </a:solidFill>
              </a:defRPr>
            </a:defPPr>
          </a:lstStyle>
          <a:p>
            <a:pPr algn="ctr"/>
            <a:r>
              <a:rPr sz="2000" b="1">
                <a:solidFill>
                  <a:srgbClr val="446C89"/>
                </a:solidFill>
                <a:latin typeface="Microsoft YaHei"/>
              </a:rPr>
              <a:t>考虑雷达探测机制的理论内涵与“智能电磁墙”民用通信创新</a:t>
            </a:r>
          </a:p>
        </p:txBody>
      </p:sp>
      <p:sp>
        <p:nvSpPr>
          <p:cNvPr id="5" name="page_number_1">
            <a:extLst>
              <a:ext uri="{FF2B5EF4-FFF2-40B4-BE49-F238E27FC236}">
                <a16:creationId xmlns:a16="http://schemas.microsoft.com/office/drawing/2014/main" id="{4364C05D-02B3-4B63-9351-81A0924DDC56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4950" y="4350000"/>
            <a:ext cx="5157181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446C89"/>
                </a:solidFill>
                <a:latin typeface="Microsoft YaHei"/>
              </a:rPr>
              <a:t>《智能隐身与识别》· 翻转课堂专题汇报</a:t>
            </a:r>
          </a:p>
        </p:txBody>
      </p:sp>
    </p:spTree>
    <p:extLst>
      <p:ext uri="{BB962C8B-B14F-4D97-AF65-F5344CB8AC3E}">
        <p14:creationId xmlns:p14="http://schemas.microsoft.com/office/powerpoint/2010/main" val="3727733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汇报目录 ｜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汇报目录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124206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000" y="1150000"/>
            <a:ext cx="7444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0000" y="1300000"/>
            <a:ext cx="850000" cy="65000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000" y="1250000"/>
            <a:ext cx="605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Microsoft YaHei"/>
              </a:rPr>
              <a:t>01 · 电子对抗与雷达视角下的隐身与伪装</a:t>
            </a:r>
          </a:p>
          <a:p>
            <a:r>
              <a:rPr sz="1200">
                <a:solidFill>
                  <a:srgbClr val="64748B"/>
                </a:solidFill>
                <a:latin typeface="Microsoft YaHei"/>
              </a:rPr>
              <a:t>雷达四步探测物理链路、RCS 表征、信噪比（SNR）与信杂比（SCR）博弈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000" y="2200000"/>
            <a:ext cx="7444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0000" y="2350000"/>
            <a:ext cx="850000" cy="65000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0000" y="2300000"/>
            <a:ext cx="605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Microsoft YaHei"/>
              </a:rPr>
              <a:t>02 · 智能隐身与伪装的需求来源与物理瓶颈</a:t>
            </a:r>
          </a:p>
          <a:p>
            <a:r>
              <a:rPr sz="1200">
                <a:solidFill>
                  <a:srgbClr val="64748B"/>
                </a:solidFill>
                <a:latin typeface="Microsoft YaHei"/>
              </a:rPr>
              <a:t>罗扎诺夫（Rozanov）物理极限、多基地与捷变频雷达威胁、动态闭环自适应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000" y="3250000"/>
            <a:ext cx="7444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0000" y="3400000"/>
            <a:ext cx="850000" cy="65000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0000" y="3350000"/>
            <a:ext cx="605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Microsoft YaHei"/>
              </a:rPr>
              <a:t>03 · 智能电磁波调控的物理机制与闭环体系</a:t>
            </a:r>
          </a:p>
          <a:p>
            <a:r>
              <a:rPr sz="1200">
                <a:solidFill>
                  <a:srgbClr val="64748B"/>
                </a:solidFill>
                <a:latin typeface="Microsoft YaHei"/>
              </a:rPr>
              <a:t>可重构智能表面（RIS）、广义斯奈尔定律与“感知-决策-执行-反馈”自适应体系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000" y="4300000"/>
            <a:ext cx="7444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0000" y="4450000"/>
            <a:ext cx="850000" cy="65000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0000" y="4400000"/>
            <a:ext cx="605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Microsoft YaHei"/>
              </a:rPr>
              <a:t>04 · 民用通信创新：面向建筑的智能电磁墙</a:t>
            </a:r>
          </a:p>
          <a:p>
            <a:r>
              <a:rPr sz="1200">
                <a:solidFill>
                  <a:srgbClr val="64748B"/>
                </a:solidFill>
                <a:latin typeface="Microsoft YaHei"/>
              </a:rPr>
              <a:t>军民同源映射、室内盲区无源覆盖中继、6G 智慧电磁环境（SRE）范式跃迁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000" y="5350000"/>
            <a:ext cx="7444000" cy="9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0000" y="5500000"/>
            <a:ext cx="850000" cy="650000"/>
          </a:xfrm>
          <a:prstGeom prst="round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0000" y="5450000"/>
            <a:ext cx="6050000" cy="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172A"/>
                </a:solidFill>
                <a:latin typeface="Microsoft YaHei"/>
              </a:rPr>
              <a:t>05 · 创新应用研讨：3 分钟课堂思辨与技术深潜</a:t>
            </a:r>
          </a:p>
          <a:p>
            <a:r>
              <a:rPr sz="1200">
                <a:solidFill>
                  <a:srgbClr val="64748B"/>
                </a:solidFill>
                <a:latin typeface="Microsoft YaHei"/>
              </a:rPr>
              <a:t>工程成本瓶颈、无源信道感知挑战、反向民用电磁防御“隐身衣”深度思辨</a:t>
            </a:r>
          </a:p>
        </p:txBody>
      </p:sp>
    </p:spTree>
    <p:extLst>
      <p:ext uri="{BB962C8B-B14F-4D97-AF65-F5344CB8AC3E}">
        <p14:creationId xmlns:p14="http://schemas.microsoft.com/office/powerpoint/2010/main" val="1051376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雷达探测物理闭环链路与深层信号博弈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01  概念内涵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186309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03</a:t>
            </a:r>
          </a:p>
        </p:txBody>
      </p:sp>
      <p:pic>
        <p:nvPicPr>
          <p:cNvPr id="9" name="Picture 8" descr="radar_detection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00" y="920000"/>
            <a:ext cx="8300000" cy="27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2000" y="3800000"/>
            <a:ext cx="405000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850000"/>
            <a:ext cx="3900000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Microsoft YaHei"/>
              </a:rPr>
              <a:t>【核心基石】雷达探测四步物理闭环链路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① 定向照射：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发射机定向辐射相干高频脉冲（X/Ku/毫米波波段），形成空间照射波束。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② 目标散射：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入射波击中目标诱发表面高频感应电流，激发全向空间二次辐射。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③ 回波接收：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后向散射能量到达雷达天线，满足经典雷达方程：Pr ∝ Pt·Gt·Gr·λ²·σ / (4π)³R⁴。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④ 信号判决：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经匹配滤波与恒虚警率（CFAR）阈值检测，提取微多普勒与空间航迹。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000" y="3800000"/>
            <a:ext cx="405000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0000" y="3850000"/>
            <a:ext cx="3900000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D433F"/>
                </a:solidFill>
                <a:latin typeface="Microsoft YaHei"/>
              </a:rPr>
              <a:t>【物理本质】电子对抗视角的深层信号博弈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雷达散射截面积（RCS, σ）：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表征目标在雷达接收方向散射能量强弱的等效面积，是隐身攻防的绝对核心，受几何外形、材料本构、波长及姿态角剧烈影响。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信噪比（SNR）博弈：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SNR = Pr / Pnoise 决定目标能否从热噪声中“被发现”。隐身本质即极力压缩目标回波 Pr，令其深陷底噪之下。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信杂比（SCR）博弈：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SCR = Pr / Pclutter 决定目标能否从地面/海面多径杂波中“被分离”。伪装本质即操控 SCR 制造虚警或同化特征。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概念辨析：隐身做“减法”，伪装做“同化/乘法”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01  概念内涵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248412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000" y="920000"/>
            <a:ext cx="4050000" cy="2750000"/>
          </a:xfrm>
          <a:prstGeom prst="roundRect">
            <a:avLst/>
          </a:prstGeom>
          <a:solidFill>
            <a:srgbClr val="2A3543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ealth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00" y="970000"/>
            <a:ext cx="2915000" cy="2650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2000" y="3800000"/>
            <a:ext cx="405000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3850000"/>
            <a:ext cx="3900000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Microsoft YaHei"/>
              </a:rPr>
              <a:t>【隐身 Stealth】· 做“减法”与降低可探测度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对抗目标：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削弱目标电磁可探测特征，增加雷达发现与稳定跟踪难度。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物理途径：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多面体几何外形偏转（避开主要威胁扇区）+ 阻抗匹配吸波材料（将电磁能转化为热能损耗）。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信号本质：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极力压低后向 RCS，使回波信噪比（SNR）低于恒虚警率检测门限。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认知纠偏：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隐身并非全向、全频段绝对“看不见”，而是压缩探测距离与拦截反应窗口。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000" y="920000"/>
            <a:ext cx="4050000" cy="2750000"/>
          </a:xfrm>
          <a:prstGeom prst="roundRect">
            <a:avLst/>
          </a:prstGeom>
          <a:solidFill>
            <a:srgbClr val="2A3543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mo_pa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000" y="970000"/>
            <a:ext cx="2915000" cy="2650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672000" y="3800000"/>
            <a:ext cx="405000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0000" y="3850000"/>
            <a:ext cx="3900000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D433F"/>
                </a:solidFill>
                <a:latin typeface="Microsoft YaHei"/>
              </a:rPr>
              <a:t>【伪装与欺骗 Camouflage】· 做“同化/乘法”与认知欺骗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对抗目标：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篡改、模拟或混淆真实目标电磁特征，增加对方识别与判断难度。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物理途径：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特征同化（涂层/结构模拟背景杂波）+ 假目标诱饵（角反射器/龙博透镜制造强回波虚警）。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信号本质：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操控信杂比（SCR）与微多普勒频谱特征，诱骗雷达分类识别算法误判或过载。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认知纠偏：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伪装不仅是简单布置充气假目标，更涵盖对真实目标的特征重塑与环境隐匿。</a:t>
            </a:r>
          </a:p>
        </p:txBody>
      </p:sp>
    </p:spTree>
    <p:extLst>
      <p:ext uri="{BB962C8B-B14F-4D97-AF65-F5344CB8AC3E}">
        <p14:creationId xmlns:p14="http://schemas.microsoft.com/office/powerpoint/2010/main" val="150075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传统被动吸波物理瓶颈与动态智能化演进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02  需求来源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310515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05</a:t>
            </a:r>
          </a:p>
        </p:txBody>
      </p:sp>
      <p:pic>
        <p:nvPicPr>
          <p:cNvPr id="9" name="Picture 8" descr="rozanov_chart_c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00" y="920000"/>
            <a:ext cx="4150000" cy="53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00000" y="920000"/>
            <a:ext cx="4150000" cy="11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000" y="955000"/>
            <a:ext cx="3950000" cy="1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BD433F"/>
                </a:solidFill>
                <a:latin typeface="Microsoft YaHei"/>
              </a:rPr>
              <a:t>① 罗扎诺夫极限（Rozanov Limit）物理枷锁</a:t>
            </a:r>
          </a:p>
          <a:p>
            <a:r>
              <a:rPr sz="1050">
                <a:solidFill>
                  <a:srgbClr val="334155"/>
                </a:solidFill>
                <a:latin typeface="Microsoft YaHei"/>
              </a:rPr>
              <a:t>无源线性时不变材料受限于 |∫ln|Γ|dλ| ≤ 2π²μs·d。“超薄厚度、超宽频带、超强吸收”在物理上存在绝对互斥，低频米波隐身与宽带覆盖遭遇工程天花板。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0000" y="2240000"/>
            <a:ext cx="4150000" cy="11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000" y="2275000"/>
            <a:ext cx="3950000" cy="1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B45309"/>
                </a:solidFill>
                <a:latin typeface="Microsoft YaHei"/>
              </a:rPr>
              <a:t>② 多基地雷达网与捷变频探测威胁</a:t>
            </a:r>
          </a:p>
          <a:p>
            <a:r>
              <a:rPr sz="1050">
                <a:solidFill>
                  <a:srgbClr val="334155"/>
                </a:solidFill>
                <a:latin typeface="Microsoft YaHei"/>
              </a:rPr>
              <a:t>传统几何外形隐身只将雷达波“偏折到其他角度”，但在分布式多基地雷达（MIMO）网面前，偏折波束被副站直接截获；微波+太赫兹多频段协同让静态涂层瞬间失效。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00" y="3560000"/>
            <a:ext cx="4150000" cy="11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000" y="3595000"/>
            <a:ext cx="3950000" cy="1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D4ED8"/>
                </a:solidFill>
                <a:latin typeface="Microsoft YaHei"/>
              </a:rPr>
              <a:t>③ 战术姿态突变与电磁背景多变</a:t>
            </a:r>
          </a:p>
          <a:p>
            <a:r>
              <a:rPr sz="1050">
                <a:solidFill>
                  <a:srgbClr val="334155"/>
                </a:solidFill>
                <a:latin typeface="Microsoft YaHei"/>
              </a:rPr>
              <a:t>目标机动俯仰导致入射角剧烈变化；飞行轨迹穿梭于海面、平原与城市丛林之间，背景电磁杂波特征动态切换，固定响应的被动材料无法实时适配。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00" y="4880000"/>
            <a:ext cx="4150000" cy="126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000" y="4915000"/>
            <a:ext cx="39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803D"/>
                </a:solidFill>
                <a:latin typeface="Microsoft YaHei"/>
              </a:rPr>
              <a:t>★ 破局结论：向“感知-决策-执行”自适应智能跃迁</a:t>
            </a:r>
          </a:p>
          <a:p>
            <a:r>
              <a:rPr sz="1050">
                <a:solidFill>
                  <a:srgbClr val="334155"/>
                </a:solidFill>
                <a:latin typeface="Microsoft YaHei"/>
              </a:rPr>
              <a:t>必须引入具备有源时变调控与动态闭环响应的智能超表面，打破线性时不变假设，实现毫秒级随遇自适应电磁波调控！</a:t>
            </a:r>
          </a:p>
        </p:txBody>
      </p:sp>
    </p:spTree>
    <p:extLst>
      <p:ext uri="{BB962C8B-B14F-4D97-AF65-F5344CB8AC3E}">
        <p14:creationId xmlns:p14="http://schemas.microsoft.com/office/powerpoint/2010/main" val="2429167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可重构智能表面（RIS）与自适应闭环机制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03  核心机制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372618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06</a:t>
            </a:r>
          </a:p>
        </p:txBody>
      </p:sp>
      <p:pic>
        <p:nvPicPr>
          <p:cNvPr id="9" name="Picture 8" descr="ris_metasurface_cn_17919940084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00" y="920000"/>
            <a:ext cx="4150000" cy="23162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3340000"/>
            <a:ext cx="4150000" cy="293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3390000"/>
            <a:ext cx="3950000" cy="28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446C89"/>
                </a:solidFill>
                <a:latin typeface="Microsoft YaHei"/>
              </a:rPr>
              <a:t>【核心调控物理机理】广义反射与相位重构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广义斯奈尔反射定律：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sin(θr) - sin(θi) = (λ₀ / 2π)·(dΦ/dx)，通过施加空间相位梯度 dΦ/dx，突破传统镜面反射限制，实现任意反常反射。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数字编码可重构表征：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采用 1-bit（0/π）或 2-bit（0, π/2, π, 3π/2）对反射相位离散量化，FPGA 毫秒级刷新单元偏压，独立调制相位、振幅与极化。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波束赋形与相位相消：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通过数字全息与优化算法合成波束：既可定向汇聚辐射能量（赋能通信），亦可多波束分裂漫散射以削减雷达回波（实现隐身）。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0000" y="920000"/>
            <a:ext cx="4150000" cy="16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000" y="960000"/>
            <a:ext cx="395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D4ED8"/>
                </a:solidFill>
                <a:latin typeface="Microsoft YaHei"/>
              </a:rPr>
              <a:t>【理论基石】信息超材料与数字可编程超表面</a:t>
            </a:r>
          </a:p>
          <a:p>
            <a:r>
              <a:rPr sz="1050">
                <a:solidFill>
                  <a:srgbClr val="334155"/>
                </a:solidFill>
                <a:latin typeface="Microsoft YaHei"/>
              </a:rPr>
              <a:t>东南大学崔铁军院士团队于 2014 年在国际上首次提出：在亚波长微结构中集成 PIN 二极管或微机电系统，利用二进制数字编码序列控制单元偏置状态，开创了用数字信息直接操控连续电磁波的新范式。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00" y="2690000"/>
            <a:ext cx="4150000" cy="35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000" y="2730000"/>
            <a:ext cx="3950000" cy="3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BD433F"/>
                </a:solidFill>
                <a:latin typeface="Microsoft YaHei"/>
              </a:rPr>
              <a:t>【四位一体】自适应闭环智能调控体系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步骤 1 · 态势感知（Sensing）：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嵌入式微型射频传感单元实时探测入射波到达角（DOA）、载波频率、极化态与传播损耗。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步骤 2 · 智能决策（Decision）：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板载嵌入式 AI 算法根据目标战术意图（吸收/偏折/伪装特征合成），毫秒级求解最优相位编码梯度矩阵。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步骤 3 · 动态调控（Execution）：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FPGA 控制器刷新千万级单元电压，电磁波束瞬间重构：定向异常反射、多波束分裂漫散射或低散射吸收。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步骤 4 · 效果自检（Feedback）：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监测残余后向散射场，根据探测雷达体制变化（如跳频或搜索角改变）动态迭代更新调控策略。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军民技术同源映射：从抑制探测到赋能覆盖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04  民用创新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434721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07</a:t>
            </a:r>
          </a:p>
        </p:txBody>
      </p:sp>
      <p:pic>
        <p:nvPicPr>
          <p:cNvPr id="9" name="Picture 8" descr="military_civilian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00" y="920000"/>
            <a:ext cx="8300000" cy="275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2000" y="3800000"/>
            <a:ext cx="405000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850000"/>
            <a:ext cx="3900000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D8"/>
                </a:solidFill>
                <a:latin typeface="Microsoft YaHei"/>
              </a:rPr>
              <a:t>【军用电子对抗】· 抑制/偏折散射场（减法）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物理目标：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操控空间散射波前相位梯度，令敌方接收方向回波 Pr → Min。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交互场景：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非合作、强对抗、多频段捷变、分布式反隐身雷达网络。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核心指标：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雷达散射截面积（RCS）缩减量（dB）、探测发现距离压缩比。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对抗策略：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通过相位相消让回波抵消，或全向漫散射将集中能量化整为零。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2000" y="3800000"/>
            <a:ext cx="405000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0000" y="3850000"/>
            <a:ext cx="3900000" cy="2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5803D"/>
                </a:solidFill>
                <a:latin typeface="Microsoft YaHei"/>
              </a:rPr>
              <a:t>【民用无线通信】· 聚焦/导引散射场（加法）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物理目标：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操控空间波前相位梯度，令建筑室内死角用户接收功率 Pr → Max。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交互场景：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高频（毫米波/太赫兹）穿墙损耗极大、建筑物死角阴影盲区覆盖。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核心指标：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信干噪比（SINR）、网络吞吐率（Mbps）、盲区覆盖率（%）、能耗。</a:t>
            </a:r>
          </a:p>
          <a:p>
            <a:r>
              <a:rPr sz="1100" b="1">
                <a:solidFill>
                  <a:srgbClr val="0F172A"/>
                </a:solidFill>
                <a:latin typeface="Microsoft YaHei"/>
              </a:rPr>
              <a:t>• 范式跃迁：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从“被动适应恶劣多径信道”跨越至“主动定制重构无线电环境（SRE）”。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创新落地：面向建筑的“智能电磁墙”系统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04  民用创新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496824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08</a:t>
            </a:r>
          </a:p>
        </p:txBody>
      </p:sp>
      <p:pic>
        <p:nvPicPr>
          <p:cNvPr id="9" name="Picture 8" descr="smart_wall_cn_test_17919939087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00" y="920000"/>
            <a:ext cx="4150000" cy="231627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0000" y="3340000"/>
            <a:ext cx="4150000" cy="293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3390000"/>
            <a:ext cx="3950000" cy="28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446C89"/>
                </a:solidFill>
                <a:latin typeface="Microsoft YaHei"/>
              </a:rPr>
              <a:t>【系统架构与工作拓扑】智能电磁中继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端到端级联链路：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基站发射端（Tx） → 智能电磁墙（RIS 柔性超表面薄膜） → 室内盲区终端（Rx）。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自适应绕射机理：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利用预先标定的反射码本，在毫米波视距（LoS）被钢筋水泥墙阻挡时，毫秒级重构虚拟视距（vLoS）传播路径。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绿色部署形态：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免布线、近零功耗无源柔性贴片，可像壁纸或窗膜一样粘贴于建筑表面，从根本上解决微基站布线繁复与室内辐射剧增难题。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0000" y="920000"/>
            <a:ext cx="4150000" cy="15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000" y="960000"/>
            <a:ext cx="395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BD433F"/>
                </a:solidFill>
                <a:latin typeface="Microsoft YaHei"/>
              </a:rPr>
              <a:t>现实痛点：高频无线通信的“穿墙与盲区之殇”</a:t>
            </a:r>
          </a:p>
          <a:p>
            <a:r>
              <a:rPr sz="1050">
                <a:solidFill>
                  <a:srgbClr val="334155"/>
                </a:solidFill>
                <a:latin typeface="Microsoft YaHei"/>
              </a:rPr>
              <a:t>5G 毫米波、6G 及 WiFi 7 频段升高，绕射能力急剧退化；穿透厚水泥墙损耗高达 25-35 dB，室内死角断连严重；传统靠堆叠微基站成本畸高、布线繁复且大幅加剧室内电磁辐射。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00" y="2590000"/>
            <a:ext cx="4150000" cy="15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000" y="2630000"/>
            <a:ext cx="395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D4ED8"/>
                </a:solidFill>
                <a:latin typeface="Microsoft YaHei"/>
              </a:rPr>
              <a:t>核心方案：“智能电磁墙”无源波束导引机理</a:t>
            </a:r>
          </a:p>
          <a:p>
            <a:r>
              <a:rPr sz="1050">
                <a:solidFill>
                  <a:srgbClr val="334155"/>
                </a:solidFill>
                <a:latin typeface="Microsoft YaHei"/>
              </a:rPr>
              <a:t>以超薄柔性超表面薄膜贴附于室内墙体或窗体，无高功耗射频功率放大链（近零功耗）；基站波束被障碍遮挡时，电磁墙毫秒级重构反射相位梯度，将能量“拐弯绕射”聚焦至盲区终端。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0000" y="4260000"/>
            <a:ext cx="4150000" cy="201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000" y="4300000"/>
            <a:ext cx="3950000" cy="19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5803D"/>
                </a:solidFill>
                <a:latin typeface="Microsoft YaHei"/>
              </a:rPr>
              <a:t>实测指标与多维工程价值评估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覆盖与速率提升：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盲区信号强度提升 15-20 dB，网络死角吞吐率提升 2.5-3 倍；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绿色超低能耗：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较传统有源微基站中继设备功耗降低 85% 以上，大幅缩减综合拥有成本；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通感一体化潜力：</a:t>
            </a:r>
            <a:r>
              <a:rPr sz="1000">
                <a:solidFill>
                  <a:srgbClr val="334155"/>
                </a:solidFill>
                <a:latin typeface="Microsoft YaHei"/>
              </a:rPr>
              <a:t>利用微动多普勒扰动，同步兼具室内老人跌倒等健康生命体征无感感知。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创新应用研讨：3分钟课堂思辨与技术深潜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05  研讨交流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558927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000" y="920000"/>
            <a:ext cx="8300000" cy="16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955000"/>
            <a:ext cx="81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D4ED8"/>
                </a:solidFill>
                <a:latin typeface="Microsoft YaHei"/>
              </a:rPr>
              <a:t>议题一【工程瓶颈与成本博弈】</a:t>
            </a:r>
          </a:p>
          <a:p>
            <a:r>
              <a:rPr sz="1300" b="1">
                <a:solidFill>
                  <a:srgbClr val="0F172A"/>
                </a:solidFill>
                <a:latin typeface="Microsoft YaHei"/>
              </a:rPr>
              <a:t>核心问题：与直接多买几个 WiFi 路由器相比，智能电磁墙的本质瓶颈是什么？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双重路径损耗瓶颈：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级联信道（基站→墙面→终端）经历二次级联衰减，损耗正比于 (d₁·d₂)²，需要超大物理孔径阵列进行高增益能量补偿；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大角度入射相位失真：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当入射波角度过大时，微带单元产生阻抗失配与高频相位量化误差；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工程思辨落脚点：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超表面硬件制造成本低廉，但大面积部署施工、毫米波馈电与控制排线集成度如何取得最优商业平衡？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000" y="2740000"/>
            <a:ext cx="8300000" cy="16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000" y="2775000"/>
            <a:ext cx="81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B45309"/>
                </a:solidFill>
                <a:latin typeface="Microsoft YaHei"/>
              </a:rPr>
              <a:t>议题二【无源感知与信道状态获取】</a:t>
            </a:r>
          </a:p>
          <a:p>
            <a:r>
              <a:rPr sz="1300" b="1">
                <a:solidFill>
                  <a:srgbClr val="0F172A"/>
                </a:solidFill>
                <a:latin typeface="Microsoft YaHei"/>
              </a:rPr>
              <a:t>核心问题：智能电磁墙没有射频基带收发链路，怎么“看”到移动设备在哪里？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核心感知困境：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无源 RIS 缺乏完整射频收发前端，无法像传统基站那样直接进行信号解调与信道状态信息（CSI）估计；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破解技术路线：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① 稀疏射频传感：仅在阵列边缘点缀 &lt;1% 的微型传感单元估计到达角（DOA）；② 盲码本扫描与用户端 ACK 反馈；③ 反向散射调制感知；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工程思辨落脚点：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如何在“追求零射频硬件超低功耗”与“实时高精度波束跟踪对准”之间寻找兼顾平衡点？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000" y="4560000"/>
            <a:ext cx="8300000" cy="168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000" y="4595000"/>
            <a:ext cx="81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BD433F"/>
                </a:solidFill>
                <a:latin typeface="Microsoft YaHei"/>
              </a:rPr>
              <a:t>议题三【反向思辨：民用电磁隐私防御】</a:t>
            </a:r>
          </a:p>
          <a:p>
            <a:r>
              <a:rPr sz="1300" b="1">
                <a:solidFill>
                  <a:srgbClr val="0F172A"/>
                </a:solidFill>
                <a:latin typeface="Microsoft YaHei"/>
              </a:rPr>
              <a:t>核心问题：当建筑墙面具备高维控波能力，会不会被攻击者利用造成安全危机？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高频穿墙感知风险：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毫米波具备透墙成像与室内微动监测能力，恶意雷达或窃听器可能穿透建筑偷窥室内隐私并窃取通信数据；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反向回归隐身主题：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智能电磁墙可一键切换为“电磁黑洞/完全吸波屏蔽模式”，切断射频信号外泄，打造物理层电磁“隐身保密室”；</a:t>
            </a:r>
          </a:p>
          <a:p>
            <a:r>
              <a:rPr sz="1050" b="1">
                <a:solidFill>
                  <a:srgbClr val="0F172A"/>
                </a:solidFill>
                <a:latin typeface="Microsoft YaHei"/>
              </a:rPr>
              <a:t>• 工程思辨落脚点：</a:t>
            </a:r>
            <a:r>
              <a:rPr sz="1050">
                <a:solidFill>
                  <a:srgbClr val="334155"/>
                </a:solidFill>
                <a:latin typeface="Microsoft YaHei"/>
              </a:rPr>
              <a:t>智能电磁调控不仅要赋能泛在连接（通信），更要筑牢物理边界（安全防御与电磁隐身）！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466850" cy="3538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77150" y="444138"/>
            <a:ext cx="1466850" cy="3537"/>
          </a:xfrm>
          <a:prstGeom prst="rect">
            <a:avLst/>
          </a:prstGeom>
          <a:solidFill>
            <a:srgbClr val="548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190500"/>
            <a:ext cx="6210300" cy="51435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从对抗探测走向赋能连接：总结与展望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90000"/>
            <a:ext cx="13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446C89"/>
                </a:solidFill>
                <a:latin typeface="Microsoft YaHei"/>
              </a:rPr>
              <a:t>总结与致谢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D7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6850" y="742950"/>
            <a:ext cx="6210300" cy="19050"/>
          </a:xfrm>
          <a:prstGeom prst="rect">
            <a:avLst/>
          </a:prstGeom>
          <a:solidFill>
            <a:srgbClr val="BD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0000" y="6420000"/>
            <a:ext cx="45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446C89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000" y="920000"/>
            <a:ext cx="8300000" cy="275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000" y="970000"/>
            <a:ext cx="8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D4ED8"/>
                </a:solidFill>
                <a:latin typeface="Microsoft YaHei"/>
              </a:rPr>
              <a:t>【核心汇报回顾】从机理辨析到未来展望的完整逻辑闭环</a:t>
            </a:r>
          </a:p>
          <a:p>
            <a:r>
              <a:rPr sz="1200" b="1">
                <a:solidFill>
                  <a:srgbClr val="0F172A"/>
                </a:solidFill>
                <a:latin typeface="Microsoft YaHei"/>
              </a:rPr>
              <a:t>• 概念内涵：</a:t>
            </a:r>
            <a:r>
              <a:rPr sz="1150">
                <a:solidFill>
                  <a:srgbClr val="334155"/>
                </a:solidFill>
                <a:latin typeface="Microsoft YaHei"/>
              </a:rPr>
              <a:t>立足雷达探测四步链路：隐身是做“减法”（降 RCS/SNR，避开雷达检测），伪装是做“同化/乘法”（控 SCR/特征，欺骗雷达识别与成像）。两者切忌混淆。</a:t>
            </a:r>
          </a:p>
          <a:p>
            <a:r>
              <a:rPr sz="1200" b="1">
                <a:solidFill>
                  <a:srgbClr val="0F172A"/>
                </a:solidFill>
                <a:latin typeface="Microsoft YaHei"/>
              </a:rPr>
              <a:t>• 需求演进：</a:t>
            </a:r>
            <a:r>
              <a:rPr sz="1150">
                <a:solidFill>
                  <a:srgbClr val="334155"/>
                </a:solidFill>
                <a:latin typeface="Microsoft YaHei"/>
              </a:rPr>
              <a:t>罗扎诺夫（Rozanov）极限证明了被动材料的物理天花板，多基地与捷变频雷达倒逼电磁调控由“静态被动”跃迁至“感知-决策-执行”智能闭环。</a:t>
            </a:r>
          </a:p>
          <a:p>
            <a:r>
              <a:rPr sz="1200" b="1">
                <a:solidFill>
                  <a:srgbClr val="0F172A"/>
                </a:solidFill>
                <a:latin typeface="Microsoft YaHei"/>
              </a:rPr>
              <a:t>• 民用创新：</a:t>
            </a:r>
            <a:r>
              <a:rPr sz="1150">
                <a:solidFill>
                  <a:srgbClr val="334155"/>
                </a:solidFill>
                <a:latin typeface="Microsoft YaHei"/>
              </a:rPr>
              <a:t>军民同源映射：从军用“不让敌方收到”（抑制散射）到民用“让用户更好收到”（聚焦导引），智能电磁墙开创主动重构无线环境新范式。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000" y="3850000"/>
            <a:ext cx="8300000" cy="2400000"/>
          </a:xfrm>
          <a:prstGeom prst="roundRect">
            <a:avLst/>
          </a:prstGeom>
          <a:solidFill>
            <a:srgbClr val="446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000" y="4000000"/>
            <a:ext cx="81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从对抗雷达探测的“暗夜潜行”，到赋能智慧连接的“明光织网”</a:t>
            </a:r>
          </a:p>
          <a:p>
            <a:pPr algn="ctr"/>
            <a:r>
              <a:rPr sz="2200" b="1">
                <a:solidFill>
                  <a:srgbClr val="FEF08A"/>
                </a:solidFill>
                <a:latin typeface="Microsoft YaHei"/>
              </a:rPr>
              <a:t>感谢老师与同学们的聆听！敬请批评指正与提问交流</a:t>
            </a:r>
          </a:p>
          <a:p>
            <a:pPr algn="ctr"/>
            <a:r>
              <a:rPr sz="1500">
                <a:solidFill>
                  <a:srgbClr val="E2E8F0"/>
                </a:solidFill>
                <a:latin typeface="Microsoft YaHei"/>
              </a:rPr>
              <a:t>汇报小组：童靖凯 刘天宇 李源 郭向泓 胡淇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13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吸波贴片</a:t>
            </a: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  <a:cs typeface="隶书"/>
              </a:rPr>
              <a:t>选型</a:t>
            </a:r>
            <a:endParaRPr lang="zh-CN" altLang="en-US" sz="3200" dirty="0">
              <a:solidFill>
                <a:schemeClr val="bg1"/>
              </a:solidFill>
              <a:latin typeface="隶书"/>
              <a:ea typeface="隶书"/>
              <a:cs typeface="隶书"/>
            </a:endParaRPr>
          </a:p>
        </p:txBody>
      </p:sp>
      <p:cxnSp>
        <p:nvCxnSpPr>
          <p:cNvPr id="40" name="slide13_item1">
            <a:extLst>
              <a:ext uri="{FF2B5EF4-FFF2-40B4-BE49-F238E27FC236}">
                <a16:creationId xmlns:a16="http://schemas.microsoft.com/office/drawing/2014/main" id="{D5A19B75-6521-4F6B-98B0-8E68FFA068E5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13_item2">
            <a:extLst>
              <a:ext uri="{FF2B5EF4-FFF2-40B4-BE49-F238E27FC236}">
                <a16:creationId xmlns:a16="http://schemas.microsoft.com/office/drawing/2014/main" id="{B654E0CA-0B63-4AB6-880D-5160B82DE534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13_item3">
            <a:extLst>
              <a:ext uri="{FF2B5EF4-FFF2-40B4-BE49-F238E27FC236}">
                <a16:creationId xmlns:a16="http://schemas.microsoft.com/office/drawing/2014/main" id="{2A26599E-5FFA-4DEF-962C-2679D67840CB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13_item4">
            <a:extLst>
              <a:ext uri="{FF2B5EF4-FFF2-40B4-BE49-F238E27FC236}">
                <a16:creationId xmlns:a16="http://schemas.microsoft.com/office/drawing/2014/main" id="{CBF99C72-31C9-4767-B68D-4F27E95EF182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11</a:t>
            </a:r>
          </a:p>
        </p:txBody>
      </p:sp>
      <p:sp>
        <p:nvSpPr>
          <p:cNvPr id="52" name="deck_progress_track_13">
            <a:extLst>
              <a:ext uri="{FF2B5EF4-FFF2-40B4-BE49-F238E27FC236}">
                <a16:creationId xmlns:a16="http://schemas.microsoft.com/office/drawing/2014/main" id="{A4D62FCD-8DC8-40D2-BDDD-3191A5EE117B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3" name="deck_progress_13">
            <a:extLst>
              <a:ext uri="{FF2B5EF4-FFF2-40B4-BE49-F238E27FC236}">
                <a16:creationId xmlns:a16="http://schemas.microsoft.com/office/drawing/2014/main" id="{4D7355E3-DDD6-43FD-9956-E897557AC005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2439761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4" name="deck_section_13">
            <a:extLst>
              <a:ext uri="{FF2B5EF4-FFF2-40B4-BE49-F238E27FC236}">
                <a16:creationId xmlns:a16="http://schemas.microsoft.com/office/drawing/2014/main" id="{A338790F-D9F4-4E8F-A90F-8DDC19F43116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lang="en-US" altLang="zh-CN" sz="900" b="1" dirty="0">
                <a:solidFill>
                  <a:srgbClr val="446C89"/>
                </a:solidFill>
              </a:rPr>
              <a:t>03</a:t>
            </a:r>
            <a:r>
              <a:rPr lang="zh-CN" altLang="en-US" sz="900" b="1" dirty="0">
                <a:solidFill>
                  <a:srgbClr val="446C89"/>
                </a:solidFill>
              </a:rPr>
              <a:t>  具体设计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18E8FD-1C06-4EDA-B9BD-C2AFFE1A688F}"/>
              </a:ext>
            </a:extLst>
          </p:cNvPr>
          <p:cNvSpPr txBox="1"/>
          <p:nvPr/>
        </p:nvSpPr>
        <p:spPr>
          <a:xfrm>
            <a:off x="601578" y="1060608"/>
            <a:ext cx="77792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最终选择：国产</a:t>
            </a:r>
            <a:r>
              <a:rPr lang="zh-CN" altLang="en-US" sz="1800" b="1" dirty="0">
                <a:effectLst/>
              </a:rPr>
              <a:t>冠旭新材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GXR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系列（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24GHz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+ </a:t>
            </a: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进口积水化学</a:t>
            </a:r>
            <a:r>
              <a:rPr lang="en-US" altLang="zh-CN" b="1" dirty="0">
                <a:solidFill>
                  <a:srgbClr val="0F1115"/>
                </a:solidFill>
                <a:latin typeface="quote-cjk-patch"/>
              </a:rPr>
              <a:t>ZCF-SRA-0600</a:t>
            </a: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（</a:t>
            </a:r>
            <a:r>
              <a:rPr lang="en-US" altLang="zh-CN" b="1" dirty="0">
                <a:solidFill>
                  <a:srgbClr val="0F1115"/>
                </a:solidFill>
                <a:latin typeface="quote-cjk-patch"/>
              </a:rPr>
              <a:t>60GHz</a:t>
            </a: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）</a:t>
            </a:r>
            <a:endParaRPr lang="en-US" altLang="zh-CN" b="1" dirty="0">
              <a:solidFill>
                <a:srgbClr val="0F1115"/>
              </a:solidFill>
              <a:latin typeface="quote-cjk-patch"/>
            </a:endParaRPr>
          </a:p>
          <a:p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冠旭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GXR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系列宽频覆盖，可直接裁剪贴合，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积水化学适应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60GHZ</a:t>
            </a:r>
            <a:endParaRPr lang="zh-CN" altLang="en-US" dirty="0">
              <a:solidFill>
                <a:srgbClr val="0F1115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优势：成本可控，国产供应稳定，支持定制模切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劣势：宽频型单频吸收效率略低于专用型，需实测验证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7A4A5C-4CAA-4036-9E4E-061495776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041000"/>
            <a:ext cx="3717729" cy="33728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5A3679D-1A88-46FB-BF8D-F8DCF020A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479" y="3035013"/>
            <a:ext cx="4755057" cy="282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14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  <a:cs typeface="隶书"/>
              </a:rPr>
              <a:t>吸波贴片性能指标</a:t>
            </a:r>
            <a:endParaRPr sz="3200" dirty="0">
              <a:solidFill>
                <a:schemeClr val="bg1"/>
              </a:solidFill>
              <a:latin typeface="隶书"/>
              <a:ea typeface="隶书"/>
              <a:cs typeface="隶书"/>
            </a:endParaRPr>
          </a:p>
        </p:txBody>
      </p:sp>
      <p:cxnSp>
        <p:nvCxnSpPr>
          <p:cNvPr id="40" name="slide14_item1">
            <a:extLst>
              <a:ext uri="{FF2B5EF4-FFF2-40B4-BE49-F238E27FC236}">
                <a16:creationId xmlns:a16="http://schemas.microsoft.com/office/drawing/2014/main" id="{73FB47C5-A120-4AEF-925D-E31E0004E187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14_item2">
            <a:extLst>
              <a:ext uri="{FF2B5EF4-FFF2-40B4-BE49-F238E27FC236}">
                <a16:creationId xmlns:a16="http://schemas.microsoft.com/office/drawing/2014/main" id="{491BE7ED-64B3-4579-87DC-CC76707F5297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14_item3">
            <a:extLst>
              <a:ext uri="{FF2B5EF4-FFF2-40B4-BE49-F238E27FC236}">
                <a16:creationId xmlns:a16="http://schemas.microsoft.com/office/drawing/2014/main" id="{3E9BB719-68C7-4AA5-85CA-FD7DA5988717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l">
              <a:defRPr sz="975" b="0">
                <a:solidFill>
                  <a:srgbClr val="25313B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25313B"/>
                </a:solidFill>
              </a:defRPr>
            </a:pPr>
            <a:endParaRPr/>
          </a:p>
        </p:txBody>
      </p:sp>
      <p:sp>
        <p:nvSpPr>
          <p:cNvPr id="43" name="slide14_item4">
            <a:extLst>
              <a:ext uri="{FF2B5EF4-FFF2-40B4-BE49-F238E27FC236}">
                <a16:creationId xmlns:a16="http://schemas.microsoft.com/office/drawing/2014/main" id="{AB68C405-DB04-4253-93C6-D7967BC1097C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12</a:t>
            </a:r>
          </a:p>
        </p:txBody>
      </p:sp>
      <p:sp>
        <p:nvSpPr>
          <p:cNvPr id="48" name="deck_progress_track_14">
            <a:extLst>
              <a:ext uri="{FF2B5EF4-FFF2-40B4-BE49-F238E27FC236}">
                <a16:creationId xmlns:a16="http://schemas.microsoft.com/office/drawing/2014/main" id="{E1AB2F5F-834C-4834-AC29-88524196478F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49" name="deck_progress_14">
            <a:extLst>
              <a:ext uri="{FF2B5EF4-FFF2-40B4-BE49-F238E27FC236}">
                <a16:creationId xmlns:a16="http://schemas.microsoft.com/office/drawing/2014/main" id="{A242894A-18F9-4138-A7A4-D0FA48C80E46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2661557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0" name="deck_section_14">
            <a:extLst>
              <a:ext uri="{FF2B5EF4-FFF2-40B4-BE49-F238E27FC236}">
                <a16:creationId xmlns:a16="http://schemas.microsoft.com/office/drawing/2014/main" id="{167E1FDD-70CF-4571-9BD8-B2C2AFFFF5B8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lang="en-US" altLang="zh-CN" sz="900" b="1" dirty="0">
                <a:solidFill>
                  <a:srgbClr val="446C89"/>
                </a:solidFill>
              </a:rPr>
              <a:t>03</a:t>
            </a:r>
            <a:r>
              <a:rPr lang="zh-CN" altLang="en-US" sz="900" b="1" dirty="0">
                <a:solidFill>
                  <a:srgbClr val="446C89"/>
                </a:solidFill>
              </a:rPr>
              <a:t>  具体设计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7DE669-A250-49CC-9495-D5C8A94E9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22" y="975955"/>
            <a:ext cx="7725853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15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  <a:cs typeface="隶书"/>
              </a:rPr>
              <a:t>外形细节优化实行方法</a:t>
            </a:r>
            <a:endParaRPr sz="3200" dirty="0">
              <a:solidFill>
                <a:schemeClr val="bg1"/>
              </a:solidFill>
              <a:latin typeface="隶书"/>
              <a:ea typeface="隶书"/>
              <a:cs typeface="隶书"/>
            </a:endParaRPr>
          </a:p>
        </p:txBody>
      </p:sp>
      <p:cxnSp>
        <p:nvCxnSpPr>
          <p:cNvPr id="40" name="slide15_item1">
            <a:extLst>
              <a:ext uri="{FF2B5EF4-FFF2-40B4-BE49-F238E27FC236}">
                <a16:creationId xmlns:a16="http://schemas.microsoft.com/office/drawing/2014/main" id="{8B8DB8DB-790E-4564-A279-A1C014D9E5BE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15_item2">
            <a:extLst>
              <a:ext uri="{FF2B5EF4-FFF2-40B4-BE49-F238E27FC236}">
                <a16:creationId xmlns:a16="http://schemas.microsoft.com/office/drawing/2014/main" id="{0AD9274D-825C-4FC6-816D-5BE7FDD10B9F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15_item3">
            <a:extLst>
              <a:ext uri="{FF2B5EF4-FFF2-40B4-BE49-F238E27FC236}">
                <a16:creationId xmlns:a16="http://schemas.microsoft.com/office/drawing/2014/main" id="{E0273C5D-EB27-4A75-92EF-834CA1EA15BB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15_item4">
            <a:extLst>
              <a:ext uri="{FF2B5EF4-FFF2-40B4-BE49-F238E27FC236}">
                <a16:creationId xmlns:a16="http://schemas.microsoft.com/office/drawing/2014/main" id="{2C74773C-8E90-45C2-A3C3-FEB66C6CEF7A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13</a:t>
            </a:r>
          </a:p>
        </p:txBody>
      </p:sp>
      <p:sp>
        <p:nvSpPr>
          <p:cNvPr id="48" name="deck_progress_track_15">
            <a:extLst>
              <a:ext uri="{FF2B5EF4-FFF2-40B4-BE49-F238E27FC236}">
                <a16:creationId xmlns:a16="http://schemas.microsoft.com/office/drawing/2014/main" id="{45A2C117-4541-4617-87F5-BC638E36F267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49" name="deck_progress_15">
            <a:extLst>
              <a:ext uri="{FF2B5EF4-FFF2-40B4-BE49-F238E27FC236}">
                <a16:creationId xmlns:a16="http://schemas.microsoft.com/office/drawing/2014/main" id="{FE1DB515-B289-493F-A6A9-C096E10CDB26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2883354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0" name="deck_section_15">
            <a:extLst>
              <a:ext uri="{FF2B5EF4-FFF2-40B4-BE49-F238E27FC236}">
                <a16:creationId xmlns:a16="http://schemas.microsoft.com/office/drawing/2014/main" id="{BBC5DF1D-0CAE-4D12-96DE-CE99A0315305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lang="en-US" altLang="zh-CN" sz="900" b="1" dirty="0">
                <a:solidFill>
                  <a:srgbClr val="446C89"/>
                </a:solidFill>
              </a:rPr>
              <a:t>03</a:t>
            </a:r>
            <a:r>
              <a:rPr lang="zh-CN" altLang="en-US" sz="900" b="1" dirty="0">
                <a:solidFill>
                  <a:srgbClr val="446C89"/>
                </a:solidFill>
              </a:rPr>
              <a:t>  具体设计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7ADFDF3-9E48-42AB-974F-9D5A7B1D7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669236"/>
              </p:ext>
            </p:extLst>
          </p:nvPr>
        </p:nvGraphicFramePr>
        <p:xfrm>
          <a:off x="412510" y="1294379"/>
          <a:ext cx="8318979" cy="49638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56272">
                  <a:extLst>
                    <a:ext uri="{9D8B030D-6E8A-4147-A177-3AD203B41FA5}">
                      <a16:colId xmlns:a16="http://schemas.microsoft.com/office/drawing/2014/main" val="3960630903"/>
                    </a:ext>
                  </a:extLst>
                </a:gridCol>
                <a:gridCol w="1519416">
                  <a:extLst>
                    <a:ext uri="{9D8B030D-6E8A-4147-A177-3AD203B41FA5}">
                      <a16:colId xmlns:a16="http://schemas.microsoft.com/office/drawing/2014/main" val="57915273"/>
                    </a:ext>
                  </a:extLst>
                </a:gridCol>
                <a:gridCol w="2685855">
                  <a:extLst>
                    <a:ext uri="{9D8B030D-6E8A-4147-A177-3AD203B41FA5}">
                      <a16:colId xmlns:a16="http://schemas.microsoft.com/office/drawing/2014/main" val="202122682"/>
                    </a:ext>
                  </a:extLst>
                </a:gridCol>
                <a:gridCol w="1678718">
                  <a:extLst>
                    <a:ext uri="{9D8B030D-6E8A-4147-A177-3AD203B41FA5}">
                      <a16:colId xmlns:a16="http://schemas.microsoft.com/office/drawing/2014/main" val="1751085512"/>
                    </a:ext>
                  </a:extLst>
                </a:gridCol>
                <a:gridCol w="1678718">
                  <a:extLst>
                    <a:ext uri="{9D8B030D-6E8A-4147-A177-3AD203B41FA5}">
                      <a16:colId xmlns:a16="http://schemas.microsoft.com/office/drawing/2014/main" val="3547875547"/>
                    </a:ext>
                  </a:extLst>
                </a:gridCol>
              </a:tblGrid>
              <a:tr h="2338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effectLst/>
                        </a:rPr>
                        <a:t>序号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47126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effectLst/>
                        </a:rPr>
                        <a:t>措施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具体做法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effectLst/>
                        </a:rPr>
                        <a:t>预期收益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effectLst/>
                        </a:rPr>
                        <a:t>增重</a:t>
                      </a:r>
                      <a:r>
                        <a:rPr lang="en-US" altLang="zh-CN" sz="1400" b="0" dirty="0">
                          <a:effectLst/>
                        </a:rPr>
                        <a:t>/</a:t>
                      </a:r>
                      <a:r>
                        <a:rPr lang="zh-CN" altLang="en-US" sz="1400" b="0" dirty="0">
                          <a:effectLst/>
                        </a:rPr>
                        <a:t>成本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extLst>
                  <a:ext uri="{0D108BD9-81ED-4DB2-BD59-A6C34878D82A}">
                    <a16:rowId xmlns:a16="http://schemas.microsoft.com/office/drawing/2014/main" val="83940152"/>
                  </a:ext>
                </a:extLst>
              </a:tr>
              <a:tr h="10328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effectLst/>
                        </a:rPr>
                        <a:t>1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47126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effectLst/>
                        </a:rPr>
                        <a:t>缝隙与边缘处理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用导电胶带</a:t>
                      </a:r>
                      <a:r>
                        <a:rPr lang="en-US" altLang="zh-CN" sz="1400" b="0">
                          <a:effectLst/>
                        </a:rPr>
                        <a:t>/</a:t>
                      </a:r>
                      <a:r>
                        <a:rPr lang="zh-CN" altLang="en-US" sz="1400" b="0">
                          <a:effectLst/>
                        </a:rPr>
                        <a:t>密封胶填补舱门、螺丝孔、接缝；直角边缘倒角或贴薄片钝化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抑制腔体反射与行波散射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effectLst/>
                        </a:rPr>
                        <a:t>&lt;10 g / &lt;50</a:t>
                      </a:r>
                      <a:r>
                        <a:rPr lang="zh-CN" altLang="en-US" sz="1400" b="0">
                          <a:effectLst/>
                        </a:rPr>
                        <a:t>元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47126" marT="32727" marB="32727" anchor="ctr"/>
                </a:tc>
                <a:extLst>
                  <a:ext uri="{0D108BD9-81ED-4DB2-BD59-A6C34878D82A}">
                    <a16:rowId xmlns:a16="http://schemas.microsoft.com/office/drawing/2014/main" val="1582273433"/>
                  </a:ext>
                </a:extLst>
              </a:tr>
              <a:tr h="11927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>
                          <a:effectLst/>
                        </a:rPr>
                        <a:t>2</a:t>
                      </a:r>
                      <a:endParaRPr lang="en-US" altLang="zh-CN" sz="1400" b="0">
                        <a:effectLst/>
                        <a:latin typeface="quote-cjk-patch"/>
                      </a:endParaRPr>
                    </a:p>
                  </a:txBody>
                  <a:tcPr marL="47126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effectLst/>
                        </a:rPr>
                        <a:t>突出部件整流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effectLst/>
                        </a:rPr>
                        <a:t>云台</a:t>
                      </a:r>
                      <a:r>
                        <a:rPr lang="en-US" altLang="zh-CN" sz="1400" b="0" dirty="0">
                          <a:effectLst/>
                        </a:rPr>
                        <a:t>/</a:t>
                      </a:r>
                      <a:r>
                        <a:rPr lang="zh-CN" altLang="en-US" sz="1400" b="0" dirty="0">
                          <a:effectLst/>
                        </a:rPr>
                        <a:t>相机加</a:t>
                      </a:r>
                      <a:r>
                        <a:rPr lang="en-US" altLang="zh-CN" sz="1400" b="0" dirty="0">
                          <a:effectLst/>
                        </a:rPr>
                        <a:t>3D</a:t>
                      </a:r>
                      <a:r>
                        <a:rPr lang="zh-CN" altLang="en-US" sz="1400" b="0" dirty="0">
                          <a:effectLst/>
                        </a:rPr>
                        <a:t>打印流线型整流罩；起落架加整流套或改内置；外置天线改内置</a:t>
                      </a:r>
                      <a:r>
                        <a:rPr lang="en-US" altLang="zh-CN" sz="1400" b="0" dirty="0">
                          <a:effectLst/>
                        </a:rPr>
                        <a:t>/</a:t>
                      </a:r>
                      <a:r>
                        <a:rPr lang="zh-CN" altLang="en-US" sz="1400" b="0" dirty="0">
                          <a:effectLst/>
                        </a:rPr>
                        <a:t>共形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消除角反射效应，降低结构散射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effectLst/>
                        </a:rPr>
                        <a:t>20–50 g / 50–150</a:t>
                      </a:r>
                      <a:r>
                        <a:rPr lang="zh-CN" altLang="en-US" sz="1400" b="0">
                          <a:effectLst/>
                        </a:rPr>
                        <a:t>元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47126" marT="32727" marB="32727" anchor="ctr"/>
                </a:tc>
                <a:extLst>
                  <a:ext uri="{0D108BD9-81ED-4DB2-BD59-A6C34878D82A}">
                    <a16:rowId xmlns:a16="http://schemas.microsoft.com/office/drawing/2014/main" val="2453294241"/>
                  </a:ext>
                </a:extLst>
              </a:tr>
              <a:tr h="8730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>
                          <a:effectLst/>
                        </a:rPr>
                        <a:t>3</a:t>
                      </a:r>
                      <a:endParaRPr lang="en-US" altLang="zh-CN" sz="1400" b="0">
                        <a:effectLst/>
                        <a:latin typeface="quote-cjk-patch"/>
                      </a:endParaRPr>
                    </a:p>
                  </a:txBody>
                  <a:tcPr marL="47126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effectLst/>
                        </a:rPr>
                        <a:t>表面平整化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螺丝头沉头或覆盖；外露线缆入槽或贴附；贴片边缘用薄胶带压平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降低</a:t>
                      </a:r>
                      <a:r>
                        <a:rPr lang="en-US" altLang="zh-CN" sz="1400" b="0">
                          <a:effectLst/>
                        </a:rPr>
                        <a:t>60 </a:t>
                      </a:r>
                      <a:r>
                        <a:rPr lang="en-US" sz="1400" b="0">
                          <a:effectLst/>
                        </a:rPr>
                        <a:t>GHz</a:t>
                      </a:r>
                      <a:r>
                        <a:rPr lang="zh-CN" altLang="en-US" sz="1400" b="0">
                          <a:effectLst/>
                        </a:rPr>
                        <a:t>表面散射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effectLst/>
                        </a:rPr>
                        <a:t>&lt;10 g / &lt;30</a:t>
                      </a:r>
                      <a:r>
                        <a:rPr lang="zh-CN" altLang="en-US" sz="1400" b="0">
                          <a:effectLst/>
                        </a:rPr>
                        <a:t>元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47126" marT="32727" marB="32727" anchor="ctr"/>
                </a:tc>
                <a:extLst>
                  <a:ext uri="{0D108BD9-81ED-4DB2-BD59-A6C34878D82A}">
                    <a16:rowId xmlns:a16="http://schemas.microsoft.com/office/drawing/2014/main" val="310829569"/>
                  </a:ext>
                </a:extLst>
              </a:tr>
              <a:tr h="7132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>
                          <a:effectLst/>
                        </a:rPr>
                        <a:t>4</a:t>
                      </a:r>
                      <a:endParaRPr lang="en-US" altLang="zh-CN" sz="1400" b="0">
                        <a:effectLst/>
                        <a:latin typeface="quote-cjk-patch"/>
                      </a:endParaRPr>
                    </a:p>
                  </a:txBody>
                  <a:tcPr marL="47126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effectLst/>
                        </a:rPr>
                        <a:t>进气道</a:t>
                      </a:r>
                      <a:r>
                        <a:rPr lang="en-US" altLang="zh-CN" sz="1400" b="1">
                          <a:effectLst/>
                        </a:rPr>
                        <a:t>/</a:t>
                      </a:r>
                      <a:r>
                        <a:rPr lang="zh-CN" altLang="en-US" sz="1400" b="1">
                          <a:effectLst/>
                        </a:rPr>
                        <a:t>散热口处理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加装金属网或格栅（兼顾散热与屏蔽）；避免直通腔体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抑制腔体散射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effectLst/>
                        </a:rPr>
                        <a:t>10–20 g / 30–80</a:t>
                      </a:r>
                      <a:r>
                        <a:rPr lang="zh-CN" altLang="en-US" sz="1400" b="0">
                          <a:effectLst/>
                        </a:rPr>
                        <a:t>元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47126" marT="32727" marB="32727" anchor="ctr"/>
                </a:tc>
                <a:extLst>
                  <a:ext uri="{0D108BD9-81ED-4DB2-BD59-A6C34878D82A}">
                    <a16:rowId xmlns:a16="http://schemas.microsoft.com/office/drawing/2014/main" val="3892941846"/>
                  </a:ext>
                </a:extLst>
              </a:tr>
              <a:tr h="8730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effectLst/>
                        </a:rPr>
                        <a:t>5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47126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effectLst/>
                        </a:rPr>
                        <a:t>快速验证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先用胶带模拟填补，实测</a:t>
                      </a:r>
                      <a:r>
                        <a:rPr lang="en-US" altLang="zh-CN" sz="1400" b="0">
                          <a:effectLst/>
                        </a:rPr>
                        <a:t>RCS</a:t>
                      </a:r>
                      <a:r>
                        <a:rPr lang="zh-CN" altLang="en-US" sz="1400" b="0">
                          <a:effectLst/>
                        </a:rPr>
                        <a:t>变化；确认有效后再永久施工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effectLst/>
                        </a:rPr>
                        <a:t>降低试错成本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2363" marR="52363" marT="32727" marB="32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effectLst/>
                        </a:rPr>
                        <a:t>可忽略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52363" marR="47126" marT="32727" marB="32727" anchor="ctr"/>
                </a:tc>
                <a:extLst>
                  <a:ext uri="{0D108BD9-81ED-4DB2-BD59-A6C34878D82A}">
                    <a16:rowId xmlns:a16="http://schemas.microsoft.com/office/drawing/2014/main" val="4171215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16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  <a:cs typeface="隶书"/>
              </a:rPr>
              <a:t>外形细节优化实行方法</a:t>
            </a:r>
            <a:endParaRPr lang="zh-CN" altLang="en-US" sz="3200" dirty="0">
              <a:solidFill>
                <a:schemeClr val="bg1"/>
              </a:solidFill>
              <a:latin typeface="隶书"/>
              <a:ea typeface="隶书"/>
              <a:cs typeface="隶书"/>
            </a:endParaRPr>
          </a:p>
        </p:txBody>
      </p:sp>
      <p:cxnSp>
        <p:nvCxnSpPr>
          <p:cNvPr id="40" name="slide16_item1">
            <a:extLst>
              <a:ext uri="{FF2B5EF4-FFF2-40B4-BE49-F238E27FC236}">
                <a16:creationId xmlns:a16="http://schemas.microsoft.com/office/drawing/2014/main" id="{5A07B093-1728-4B1B-A145-A6A80D60EB64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16_item2">
            <a:extLst>
              <a:ext uri="{FF2B5EF4-FFF2-40B4-BE49-F238E27FC236}">
                <a16:creationId xmlns:a16="http://schemas.microsoft.com/office/drawing/2014/main" id="{D2BBC8B1-3D13-4A34-B5D3-E96B0CD074F3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16_item3">
            <a:extLst>
              <a:ext uri="{FF2B5EF4-FFF2-40B4-BE49-F238E27FC236}">
                <a16:creationId xmlns:a16="http://schemas.microsoft.com/office/drawing/2014/main" id="{66486AC4-4DE0-4D76-9443-19CA94BA0995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16_item4">
            <a:extLst>
              <a:ext uri="{FF2B5EF4-FFF2-40B4-BE49-F238E27FC236}">
                <a16:creationId xmlns:a16="http://schemas.microsoft.com/office/drawing/2014/main" id="{C7F56B27-8830-4A02-8E6E-90DAC100D4C8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14</a:t>
            </a:r>
          </a:p>
        </p:txBody>
      </p:sp>
      <p:sp>
        <p:nvSpPr>
          <p:cNvPr id="53" name="deck_progress_track_16">
            <a:extLst>
              <a:ext uri="{FF2B5EF4-FFF2-40B4-BE49-F238E27FC236}">
                <a16:creationId xmlns:a16="http://schemas.microsoft.com/office/drawing/2014/main" id="{426126ED-BBBD-46E5-B4B2-47D72C12E6CF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4" name="deck_progress_16">
            <a:extLst>
              <a:ext uri="{FF2B5EF4-FFF2-40B4-BE49-F238E27FC236}">
                <a16:creationId xmlns:a16="http://schemas.microsoft.com/office/drawing/2014/main" id="{E95FB8E9-37EE-40DC-8D89-8C4EEE424940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3105150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5" name="deck_section_16">
            <a:extLst>
              <a:ext uri="{FF2B5EF4-FFF2-40B4-BE49-F238E27FC236}">
                <a16:creationId xmlns:a16="http://schemas.microsoft.com/office/drawing/2014/main" id="{6D563F86-4290-4BD5-940A-E3D54E36D120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lang="en-US" altLang="zh-CN" sz="900" b="1" dirty="0">
                <a:solidFill>
                  <a:srgbClr val="446C89"/>
                </a:solidFill>
              </a:rPr>
              <a:t>03</a:t>
            </a:r>
            <a:r>
              <a:rPr lang="zh-CN" altLang="en-US" sz="900" b="1" dirty="0">
                <a:solidFill>
                  <a:srgbClr val="446C89"/>
                </a:solidFill>
              </a:rPr>
              <a:t>  具体设计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E1E10A5-0317-4F9C-86D3-CF17603DF5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398" b="9357"/>
          <a:stretch/>
        </p:blipFill>
        <p:spPr>
          <a:xfrm>
            <a:off x="466725" y="1038773"/>
            <a:ext cx="4240219" cy="510430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CC30933-574E-4758-8D50-98C774F282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7" b="9716"/>
          <a:stretch/>
        </p:blipFill>
        <p:spPr>
          <a:xfrm>
            <a:off x="4638531" y="1035854"/>
            <a:ext cx="4240218" cy="510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17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  <a:cs typeface="隶书"/>
              </a:rPr>
              <a:t>外形细节优化实行方法</a:t>
            </a:r>
            <a:endParaRPr lang="zh-CN" altLang="en-US" sz="3200" dirty="0">
              <a:solidFill>
                <a:schemeClr val="bg1"/>
              </a:solidFill>
              <a:latin typeface="隶书"/>
              <a:ea typeface="隶书"/>
              <a:cs typeface="隶书"/>
            </a:endParaRPr>
          </a:p>
        </p:txBody>
      </p:sp>
      <p:cxnSp>
        <p:nvCxnSpPr>
          <p:cNvPr id="40" name="slide17_item1">
            <a:extLst>
              <a:ext uri="{FF2B5EF4-FFF2-40B4-BE49-F238E27FC236}">
                <a16:creationId xmlns:a16="http://schemas.microsoft.com/office/drawing/2014/main" id="{8C00C742-63F2-4005-8927-8E467294DE1E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17_item2">
            <a:extLst>
              <a:ext uri="{FF2B5EF4-FFF2-40B4-BE49-F238E27FC236}">
                <a16:creationId xmlns:a16="http://schemas.microsoft.com/office/drawing/2014/main" id="{B0615F5F-51D4-4406-9E9A-3C2D6351E029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17_item3">
            <a:extLst>
              <a:ext uri="{FF2B5EF4-FFF2-40B4-BE49-F238E27FC236}">
                <a16:creationId xmlns:a16="http://schemas.microsoft.com/office/drawing/2014/main" id="{D54A7A67-FEF2-402A-BBD5-969904C1AFA4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17_item4">
            <a:extLst>
              <a:ext uri="{FF2B5EF4-FFF2-40B4-BE49-F238E27FC236}">
                <a16:creationId xmlns:a16="http://schemas.microsoft.com/office/drawing/2014/main" id="{4F4CE899-5D90-4C78-BC9E-CAF4D3C442C5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15</a:t>
            </a:r>
          </a:p>
        </p:txBody>
      </p:sp>
      <p:sp>
        <p:nvSpPr>
          <p:cNvPr id="48" name="deck_progress_track_17">
            <a:extLst>
              <a:ext uri="{FF2B5EF4-FFF2-40B4-BE49-F238E27FC236}">
                <a16:creationId xmlns:a16="http://schemas.microsoft.com/office/drawing/2014/main" id="{66B4F2E9-7FDA-4E9B-9550-66C2EA8B0B7C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49" name="deck_progress_17">
            <a:extLst>
              <a:ext uri="{FF2B5EF4-FFF2-40B4-BE49-F238E27FC236}">
                <a16:creationId xmlns:a16="http://schemas.microsoft.com/office/drawing/2014/main" id="{ACF36853-5C31-4B22-9EEB-058C25F59542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3326946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0" name="deck_section_17">
            <a:extLst>
              <a:ext uri="{FF2B5EF4-FFF2-40B4-BE49-F238E27FC236}">
                <a16:creationId xmlns:a16="http://schemas.microsoft.com/office/drawing/2014/main" id="{34571B09-B79B-438C-BA57-559FCA7C8B8C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03  具体设计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99612FA-9F00-49EA-9B31-E718865DCA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91" b="10770"/>
          <a:stretch/>
        </p:blipFill>
        <p:spPr>
          <a:xfrm>
            <a:off x="4541168" y="992319"/>
            <a:ext cx="4265973" cy="511320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3AA4AA8-4DF0-4845-952E-444B82AD55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602"/>
          <a:stretch/>
        </p:blipFill>
        <p:spPr>
          <a:xfrm>
            <a:off x="275195" y="973269"/>
            <a:ext cx="4265973" cy="514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18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低</a:t>
            </a:r>
            <a:r>
              <a:rPr lang="en-US" altLang="zh-CN" sz="1875" b="1" dirty="0">
                <a:solidFill>
                  <a:srgbClr val="FFFFFF"/>
                </a:solidFill>
                <a:latin typeface="隶书"/>
                <a:ea typeface="隶书"/>
              </a:rPr>
              <a:t>RCS</a:t>
            </a: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天线</a:t>
            </a:r>
          </a:p>
        </p:txBody>
      </p:sp>
      <p:cxnSp>
        <p:nvCxnSpPr>
          <p:cNvPr id="40" name="slide18_item1">
            <a:extLst>
              <a:ext uri="{FF2B5EF4-FFF2-40B4-BE49-F238E27FC236}">
                <a16:creationId xmlns:a16="http://schemas.microsoft.com/office/drawing/2014/main" id="{D40FE26E-BE7C-4035-ADF5-671C13E8A022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18_item2">
            <a:extLst>
              <a:ext uri="{FF2B5EF4-FFF2-40B4-BE49-F238E27FC236}">
                <a16:creationId xmlns:a16="http://schemas.microsoft.com/office/drawing/2014/main" id="{C52BE97D-6E08-4E3F-9588-4E9F81CC33C6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18_item3">
            <a:extLst>
              <a:ext uri="{FF2B5EF4-FFF2-40B4-BE49-F238E27FC236}">
                <a16:creationId xmlns:a16="http://schemas.microsoft.com/office/drawing/2014/main" id="{05160D10-B268-43EB-939B-BB9806E9AF4F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18_item4">
            <a:extLst>
              <a:ext uri="{FF2B5EF4-FFF2-40B4-BE49-F238E27FC236}">
                <a16:creationId xmlns:a16="http://schemas.microsoft.com/office/drawing/2014/main" id="{EF833788-E769-4B35-9B48-B6DC04B0154E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16</a:t>
            </a:r>
          </a:p>
        </p:txBody>
      </p:sp>
      <p:sp>
        <p:nvSpPr>
          <p:cNvPr id="49" name="deck_progress_track_18">
            <a:extLst>
              <a:ext uri="{FF2B5EF4-FFF2-40B4-BE49-F238E27FC236}">
                <a16:creationId xmlns:a16="http://schemas.microsoft.com/office/drawing/2014/main" id="{C7AD740F-67AB-4925-AC83-84455DAB794A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0" name="deck_progress_18">
            <a:extLst>
              <a:ext uri="{FF2B5EF4-FFF2-40B4-BE49-F238E27FC236}">
                <a16:creationId xmlns:a16="http://schemas.microsoft.com/office/drawing/2014/main" id="{E9D36E5C-F1C3-45AB-89CF-F837D94F3F88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3548743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1" name="deck_section_18">
            <a:extLst>
              <a:ext uri="{FF2B5EF4-FFF2-40B4-BE49-F238E27FC236}">
                <a16:creationId xmlns:a16="http://schemas.microsoft.com/office/drawing/2014/main" id="{1FE4C2D2-67F1-480D-A0A5-88E2B20DC7B8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03  具体设计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04BE37-6127-4D03-ACD0-80F60ED506A3}"/>
              </a:ext>
            </a:extLst>
          </p:cNvPr>
          <p:cNvSpPr txBox="1"/>
          <p:nvPr/>
        </p:nvSpPr>
        <p:spPr>
          <a:xfrm>
            <a:off x="733425" y="1328767"/>
            <a:ext cx="74733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方案一：外置天线改内置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核心思路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：消除突出天线的强散射中心。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具体实施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位置内移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：将天线从机身外移入内部设备舱。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透波罩设计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：机身蒙皮采用透波材料，保证信号穿透。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外形连续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：消除外置天线引起的外形不连续性。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预期效果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：显著降低前向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RCS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，外形完整性大幅提升。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algn="l"/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方案二：共形天线设计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核心思路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：天线与机身外形一体化融合。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具体实施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曲面贴合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：柔性天线阵列贴合机身曲面。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集成蒙皮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：天线与蒙皮一体化，消除突出结构。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方向图优化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：优化天线辐射方向图，减少结构散射。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预期效果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：消除二面角反射，外形无突出，散射方向图平滑。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19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低</a:t>
            </a:r>
            <a:r>
              <a:rPr lang="en-US" altLang="zh-CN" sz="1875" b="1" dirty="0">
                <a:solidFill>
                  <a:srgbClr val="FFFFFF"/>
                </a:solidFill>
                <a:latin typeface="隶书"/>
                <a:ea typeface="隶书"/>
              </a:rPr>
              <a:t>RCS</a:t>
            </a: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天线</a:t>
            </a:r>
          </a:p>
        </p:txBody>
      </p:sp>
      <p:cxnSp>
        <p:nvCxnSpPr>
          <p:cNvPr id="40" name="slide19_item1">
            <a:extLst>
              <a:ext uri="{FF2B5EF4-FFF2-40B4-BE49-F238E27FC236}">
                <a16:creationId xmlns:a16="http://schemas.microsoft.com/office/drawing/2014/main" id="{CB353EDA-79C4-487D-933E-B1E92039764C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19_item2">
            <a:extLst>
              <a:ext uri="{FF2B5EF4-FFF2-40B4-BE49-F238E27FC236}">
                <a16:creationId xmlns:a16="http://schemas.microsoft.com/office/drawing/2014/main" id="{674E202B-0D6D-4B8A-9880-A1D1587CC23F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19_item3">
            <a:extLst>
              <a:ext uri="{FF2B5EF4-FFF2-40B4-BE49-F238E27FC236}">
                <a16:creationId xmlns:a16="http://schemas.microsoft.com/office/drawing/2014/main" id="{FBA28039-D976-4719-93C0-4CF14ADA862A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19_item4">
            <a:extLst>
              <a:ext uri="{FF2B5EF4-FFF2-40B4-BE49-F238E27FC236}">
                <a16:creationId xmlns:a16="http://schemas.microsoft.com/office/drawing/2014/main" id="{902F6808-02B2-484B-B427-94E61AD2A159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17</a:t>
            </a:r>
          </a:p>
        </p:txBody>
      </p:sp>
      <p:sp>
        <p:nvSpPr>
          <p:cNvPr id="54" name="deck_progress_track_19">
            <a:extLst>
              <a:ext uri="{FF2B5EF4-FFF2-40B4-BE49-F238E27FC236}">
                <a16:creationId xmlns:a16="http://schemas.microsoft.com/office/drawing/2014/main" id="{9E25121E-0BB0-499F-A9D7-79903FF4BDB4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5" name="deck_progress_19">
            <a:extLst>
              <a:ext uri="{FF2B5EF4-FFF2-40B4-BE49-F238E27FC236}">
                <a16:creationId xmlns:a16="http://schemas.microsoft.com/office/drawing/2014/main" id="{BC5EC073-8FD5-4AB6-9095-807C07FDE3B9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3770539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6" name="deck_section_19">
            <a:extLst>
              <a:ext uri="{FF2B5EF4-FFF2-40B4-BE49-F238E27FC236}">
                <a16:creationId xmlns:a16="http://schemas.microsoft.com/office/drawing/2014/main" id="{5C4DB9CC-6EBB-480E-9E6F-A7F587E14881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03  具体设计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92B6322-B0B9-4595-AD2E-71FCA03E1816}"/>
              </a:ext>
            </a:extLst>
          </p:cNvPr>
          <p:cNvSpPr txBox="1"/>
          <p:nvPr/>
        </p:nvSpPr>
        <p:spPr>
          <a:xfrm>
            <a:off x="715126" y="1282601"/>
            <a:ext cx="71708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方案三：天线屏蔽与遮挡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核心思路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：利用机身结构和局部屏蔽罩，遮挡主要威胁方向的天线散射。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具体实施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位置选择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：天线布置在机背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机腹等远离主要威胁方向的位置。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屏蔽结构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：采用局部屏蔽罩或机身结构遮挡。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遮挡角设计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：利用机身外形遮挡天线散射。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预期效果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：主要威胁方向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RCS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大幅降低，通信性能基本不受影响。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0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低</a:t>
            </a:r>
            <a:r>
              <a:rPr lang="en-US" altLang="zh-CN" sz="1875" b="1" dirty="0">
                <a:solidFill>
                  <a:srgbClr val="FFFFFF"/>
                </a:solidFill>
                <a:latin typeface="隶书"/>
                <a:ea typeface="隶书"/>
              </a:rPr>
              <a:t>RCS</a:t>
            </a: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天线</a:t>
            </a:r>
          </a:p>
        </p:txBody>
      </p:sp>
      <p:cxnSp>
        <p:nvCxnSpPr>
          <p:cNvPr id="40" name="slide20_item1">
            <a:extLst>
              <a:ext uri="{FF2B5EF4-FFF2-40B4-BE49-F238E27FC236}">
                <a16:creationId xmlns:a16="http://schemas.microsoft.com/office/drawing/2014/main" id="{AD0AEA7E-89DD-4149-A293-9A3E7342E603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0_item2">
            <a:extLst>
              <a:ext uri="{FF2B5EF4-FFF2-40B4-BE49-F238E27FC236}">
                <a16:creationId xmlns:a16="http://schemas.microsoft.com/office/drawing/2014/main" id="{96BA9803-07A8-43B8-840B-78A6A0FDEA67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0_item3">
            <a:extLst>
              <a:ext uri="{FF2B5EF4-FFF2-40B4-BE49-F238E27FC236}">
                <a16:creationId xmlns:a16="http://schemas.microsoft.com/office/drawing/2014/main" id="{CB90AFD2-A781-4228-98D7-C6D1C73BE48C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0_item4">
            <a:extLst>
              <a:ext uri="{FF2B5EF4-FFF2-40B4-BE49-F238E27FC236}">
                <a16:creationId xmlns:a16="http://schemas.microsoft.com/office/drawing/2014/main" id="{4776BF07-DFB1-46CA-9A8B-C47448FC95BA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18</a:t>
            </a:r>
          </a:p>
        </p:txBody>
      </p:sp>
      <p:sp>
        <p:nvSpPr>
          <p:cNvPr id="46" name="deck_progress_track_20">
            <a:extLst>
              <a:ext uri="{FF2B5EF4-FFF2-40B4-BE49-F238E27FC236}">
                <a16:creationId xmlns:a16="http://schemas.microsoft.com/office/drawing/2014/main" id="{3165BFAF-FB6B-45D2-9937-0B44C1816386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47" name="deck_progress_20">
            <a:extLst>
              <a:ext uri="{FF2B5EF4-FFF2-40B4-BE49-F238E27FC236}">
                <a16:creationId xmlns:a16="http://schemas.microsoft.com/office/drawing/2014/main" id="{03064C93-AD0B-47FC-9633-B8464CFE715E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3992336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48" name="deck_section_20">
            <a:extLst>
              <a:ext uri="{FF2B5EF4-FFF2-40B4-BE49-F238E27FC236}">
                <a16:creationId xmlns:a16="http://schemas.microsoft.com/office/drawing/2014/main" id="{F0D6BE5C-367D-4452-B368-FBD394E89737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03  具体设计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860AA5E-2E42-4C6E-B2B3-0363634098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96" b="8950"/>
          <a:stretch/>
        </p:blipFill>
        <p:spPr>
          <a:xfrm>
            <a:off x="645808" y="1269966"/>
            <a:ext cx="3977971" cy="489270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90998FB-7EB5-4D9F-8280-91E9172A87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96" b="9791"/>
          <a:stretch/>
        </p:blipFill>
        <p:spPr>
          <a:xfrm>
            <a:off x="4623779" y="1267431"/>
            <a:ext cx="3946818" cy="488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1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低</a:t>
            </a:r>
            <a:r>
              <a:rPr lang="en-US" altLang="zh-CN" sz="1875" b="1" dirty="0">
                <a:solidFill>
                  <a:srgbClr val="FFFFFF"/>
                </a:solidFill>
                <a:latin typeface="隶书"/>
                <a:ea typeface="隶书"/>
              </a:rPr>
              <a:t>RCS</a:t>
            </a: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天线</a:t>
            </a:r>
          </a:p>
        </p:txBody>
      </p:sp>
      <p:cxnSp>
        <p:nvCxnSpPr>
          <p:cNvPr id="40" name="slide21_item1">
            <a:extLst>
              <a:ext uri="{FF2B5EF4-FFF2-40B4-BE49-F238E27FC236}">
                <a16:creationId xmlns:a16="http://schemas.microsoft.com/office/drawing/2014/main" id="{4F49D1F9-25C8-4B35-BF15-A60C44EB5D83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1_item2">
            <a:extLst>
              <a:ext uri="{FF2B5EF4-FFF2-40B4-BE49-F238E27FC236}">
                <a16:creationId xmlns:a16="http://schemas.microsoft.com/office/drawing/2014/main" id="{2F6199E4-DE35-45CF-A488-DEF7F8887144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1_item3">
            <a:extLst>
              <a:ext uri="{FF2B5EF4-FFF2-40B4-BE49-F238E27FC236}">
                <a16:creationId xmlns:a16="http://schemas.microsoft.com/office/drawing/2014/main" id="{13D18F9C-C9E2-455E-92DA-15EA7F7FEE6F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1_item4">
            <a:extLst>
              <a:ext uri="{FF2B5EF4-FFF2-40B4-BE49-F238E27FC236}">
                <a16:creationId xmlns:a16="http://schemas.microsoft.com/office/drawing/2014/main" id="{40837319-56D4-4C89-A259-974D10FDCA69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19</a:t>
            </a:r>
          </a:p>
        </p:txBody>
      </p:sp>
      <p:sp>
        <p:nvSpPr>
          <p:cNvPr id="54" name="deck_progress_track_21">
            <a:extLst>
              <a:ext uri="{FF2B5EF4-FFF2-40B4-BE49-F238E27FC236}">
                <a16:creationId xmlns:a16="http://schemas.microsoft.com/office/drawing/2014/main" id="{406F5935-91F2-4216-8E48-74D5609FCC6C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5" name="deck_progress_21">
            <a:extLst>
              <a:ext uri="{FF2B5EF4-FFF2-40B4-BE49-F238E27FC236}">
                <a16:creationId xmlns:a16="http://schemas.microsoft.com/office/drawing/2014/main" id="{3F4F4687-9A6C-4C41-B114-BDF3E549696A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4214132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6" name="deck_section_21">
            <a:extLst>
              <a:ext uri="{FF2B5EF4-FFF2-40B4-BE49-F238E27FC236}">
                <a16:creationId xmlns:a16="http://schemas.microsoft.com/office/drawing/2014/main" id="{49880752-8CAA-4534-8F5E-4FFF2B9EC17B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03  具体设计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DF66570B-EC2E-4B89-AA9D-34F87A2DB0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96" b="9791"/>
          <a:stretch/>
        </p:blipFill>
        <p:spPr>
          <a:xfrm>
            <a:off x="444094" y="1212816"/>
            <a:ext cx="4015087" cy="4892709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F2ABA8B9-8AB0-46D7-9184-3EB617B5D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77939"/>
            <a:ext cx="4178607" cy="277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1FBCFAF-E355-4AAC-A049-501203F0E359}"/>
              </a:ext>
            </a:extLst>
          </p:cNvPr>
          <p:cNvSpPr txBox="1"/>
          <p:nvPr/>
        </p:nvSpPr>
        <p:spPr>
          <a:xfrm>
            <a:off x="4946053" y="5184656"/>
            <a:ext cx="3884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“彩虹”无人机低</a:t>
            </a:r>
            <a:r>
              <a:rPr lang="en-US" altLang="zh-CN" dirty="0"/>
              <a:t>RCS</a:t>
            </a:r>
            <a:r>
              <a:rPr lang="zh-CN" altLang="en-US" dirty="0"/>
              <a:t>天线实例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2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5513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隐身性能、成本估算</a:t>
            </a:r>
          </a:p>
        </p:txBody>
      </p:sp>
      <p:cxnSp>
        <p:nvCxnSpPr>
          <p:cNvPr id="40" name="slide22_item1">
            <a:extLst>
              <a:ext uri="{FF2B5EF4-FFF2-40B4-BE49-F238E27FC236}">
                <a16:creationId xmlns:a16="http://schemas.microsoft.com/office/drawing/2014/main" id="{75F1D852-4513-4A73-9A68-BEA9BC1A00B5}"/>
              </a:ext>
            </a:extLst>
          </p:cNvPr>
          <p:cNvCxnSpPr>
            <a:endCxn id="39" idx="1"/>
          </p:cNvCxnSpPr>
          <p:nvPr/>
        </p:nvCxnSpPr>
        <p:spPr>
          <a:xfrm>
            <a:off x="0" y="449150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2_item2">
            <a:extLst>
              <a:ext uri="{FF2B5EF4-FFF2-40B4-BE49-F238E27FC236}">
                <a16:creationId xmlns:a16="http://schemas.microsoft.com/office/drawing/2014/main" id="{FA60D608-1A85-4FE9-A3BB-43D20F2B7399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9151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2_item3">
            <a:extLst>
              <a:ext uri="{FF2B5EF4-FFF2-40B4-BE49-F238E27FC236}">
                <a16:creationId xmlns:a16="http://schemas.microsoft.com/office/drawing/2014/main" id="{76F2AEB1-1C78-41BA-95AD-168BDC7FD730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2_item4">
            <a:extLst>
              <a:ext uri="{FF2B5EF4-FFF2-40B4-BE49-F238E27FC236}">
                <a16:creationId xmlns:a16="http://schemas.microsoft.com/office/drawing/2014/main" id="{A99AC75E-3BBE-479C-9ED1-8320F2DD161F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20</a:t>
            </a:r>
          </a:p>
        </p:txBody>
      </p:sp>
      <p:sp>
        <p:nvSpPr>
          <p:cNvPr id="56" name="deck_progress_track_22">
            <a:extLst>
              <a:ext uri="{FF2B5EF4-FFF2-40B4-BE49-F238E27FC236}">
                <a16:creationId xmlns:a16="http://schemas.microsoft.com/office/drawing/2014/main" id="{11CDE5E1-0A8E-4768-AD51-998F5C5EB1E0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7" name="deck_progress_22">
            <a:extLst>
              <a:ext uri="{FF2B5EF4-FFF2-40B4-BE49-F238E27FC236}">
                <a16:creationId xmlns:a16="http://schemas.microsoft.com/office/drawing/2014/main" id="{381A4B90-87F8-4F91-9652-75CB46DB1CD3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4435929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8" name="deck_section_22">
            <a:extLst>
              <a:ext uri="{FF2B5EF4-FFF2-40B4-BE49-F238E27FC236}">
                <a16:creationId xmlns:a16="http://schemas.microsoft.com/office/drawing/2014/main" id="{D3330060-AFA7-4C7F-874D-F9D073740C91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03  具体设计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782CE21-A77F-40A0-9777-42D3D78988A9}"/>
              </a:ext>
            </a:extLst>
          </p:cNvPr>
          <p:cNvSpPr txBox="1"/>
          <p:nvPr/>
        </p:nvSpPr>
        <p:spPr>
          <a:xfrm>
            <a:off x="733425" y="963500"/>
            <a:ext cx="4585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选定改装平台：大疆 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Mavic 3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6EC28DA-6B19-4807-860A-0748FFB7C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962424"/>
              </p:ext>
            </p:extLst>
          </p:nvPr>
        </p:nvGraphicFramePr>
        <p:xfrm>
          <a:off x="733424" y="1689802"/>
          <a:ext cx="6943725" cy="397663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14575">
                  <a:extLst>
                    <a:ext uri="{9D8B030D-6E8A-4147-A177-3AD203B41FA5}">
                      <a16:colId xmlns:a16="http://schemas.microsoft.com/office/drawing/2014/main" val="3115543407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897224812"/>
                    </a:ext>
                  </a:extLst>
                </a:gridCol>
                <a:gridCol w="2314575">
                  <a:extLst>
                    <a:ext uri="{9D8B030D-6E8A-4147-A177-3AD203B41FA5}">
                      <a16:colId xmlns:a16="http://schemas.microsoft.com/office/drawing/2014/main" val="324099131"/>
                    </a:ext>
                  </a:extLst>
                </a:gridCol>
              </a:tblGrid>
              <a:tr h="363877"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</a:rPr>
                        <a:t>参数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</a:rPr>
                        <a:t>数值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b="0">
                          <a:effectLst/>
                        </a:rPr>
                        <a:t>来源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076501061"/>
                  </a:ext>
                </a:extLst>
              </a:tr>
              <a:tr h="507091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起飞重量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895 g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大疆官方规格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643578581"/>
                  </a:ext>
                </a:extLst>
              </a:tr>
              <a:tr h="85371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展开尺寸（不含桨）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347.5 × 283 × 107.7 mm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大疆官方规格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214494673"/>
                  </a:ext>
                </a:extLst>
              </a:tr>
              <a:tr h="85371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折叠尺寸（不含桨）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</a:rPr>
                        <a:t>221 × 96.3 × 90.3 mm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大疆官方规格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044066536"/>
                  </a:ext>
                </a:extLst>
              </a:tr>
              <a:tr h="507091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最大续航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altLang="zh-CN" b="0">
                          <a:effectLst/>
                        </a:rPr>
                        <a:t>46 </a:t>
                      </a:r>
                      <a:r>
                        <a:rPr lang="zh-CN" altLang="en-US" b="0">
                          <a:effectLst/>
                        </a:rPr>
                        <a:t>分钟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大疆官方规格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53766908"/>
                  </a:ext>
                </a:extLst>
              </a:tr>
              <a:tr h="85371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机身材料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</a:rPr>
                        <a:t>工程塑料 </a:t>
                      </a:r>
                      <a:r>
                        <a:rPr lang="en-US" altLang="zh-CN" b="0">
                          <a:effectLst/>
                        </a:rPr>
                        <a:t>+ </a:t>
                      </a:r>
                      <a:r>
                        <a:rPr lang="zh-CN" altLang="en-US" b="0">
                          <a:effectLst/>
                        </a:rPr>
                        <a:t>部分金属结构件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</a:rPr>
                        <a:t>行业通用配置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108782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3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隐身性能估算</a:t>
            </a:r>
          </a:p>
        </p:txBody>
      </p:sp>
      <p:cxnSp>
        <p:nvCxnSpPr>
          <p:cNvPr id="40" name="slide23_item1">
            <a:extLst>
              <a:ext uri="{FF2B5EF4-FFF2-40B4-BE49-F238E27FC236}">
                <a16:creationId xmlns:a16="http://schemas.microsoft.com/office/drawing/2014/main" id="{A142400C-D696-4697-A1D9-07BC39FB55CF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3_item2">
            <a:extLst>
              <a:ext uri="{FF2B5EF4-FFF2-40B4-BE49-F238E27FC236}">
                <a16:creationId xmlns:a16="http://schemas.microsoft.com/office/drawing/2014/main" id="{D616B48E-B697-4C55-B502-EEF282456C9E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3_item3">
            <a:extLst>
              <a:ext uri="{FF2B5EF4-FFF2-40B4-BE49-F238E27FC236}">
                <a16:creationId xmlns:a16="http://schemas.microsoft.com/office/drawing/2014/main" id="{53AC9CF1-E4DE-47B4-BDED-2521566CB7B4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3_item4">
            <a:extLst>
              <a:ext uri="{FF2B5EF4-FFF2-40B4-BE49-F238E27FC236}">
                <a16:creationId xmlns:a16="http://schemas.microsoft.com/office/drawing/2014/main" id="{D087DC38-B40F-4C4D-B6E5-56741B3D9581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21</a:t>
            </a:r>
          </a:p>
        </p:txBody>
      </p:sp>
      <p:sp>
        <p:nvSpPr>
          <p:cNvPr id="56" name="deck_progress_track_23">
            <a:extLst>
              <a:ext uri="{FF2B5EF4-FFF2-40B4-BE49-F238E27FC236}">
                <a16:creationId xmlns:a16="http://schemas.microsoft.com/office/drawing/2014/main" id="{38EE10F3-CA31-4302-91C9-19E551A84257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7" name="deck_progress_23">
            <a:extLst>
              <a:ext uri="{FF2B5EF4-FFF2-40B4-BE49-F238E27FC236}">
                <a16:creationId xmlns:a16="http://schemas.microsoft.com/office/drawing/2014/main" id="{34E63DC4-1ACB-4271-AE32-C1EF04169558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4657725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8" name="deck_section_23">
            <a:extLst>
              <a:ext uri="{FF2B5EF4-FFF2-40B4-BE49-F238E27FC236}">
                <a16:creationId xmlns:a16="http://schemas.microsoft.com/office/drawing/2014/main" id="{E7FDED37-6057-40AA-8DAB-BB91E8BE3DE3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03  具体设计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09E0C1-FF5D-48DE-A810-E89C308DB616}"/>
              </a:ext>
            </a:extLst>
          </p:cNvPr>
          <p:cNvSpPr txBox="1"/>
          <p:nvPr/>
        </p:nvSpPr>
        <p:spPr>
          <a:xfrm>
            <a:off x="493295" y="1233952"/>
            <a:ext cx="81574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24 GHz 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频段 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RCS 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减缩估算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贴片性能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GXR-83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 mm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厚度下，谐振峰（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22–26 GHz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）衰减率标注为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50 dB @ 18 GHz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，在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24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谐振点附近的实际反射损耗预计在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−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15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至 −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20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量级。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覆盖策略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Mavic 3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的主要散射贡献来自机头前向、机臂前缘和机身腹部。预计覆盖面积约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0.05–0.08 m²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（详见第四节）。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RCS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减缩估算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覆盖区域对整机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RCS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的贡献占比：约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55%–70%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（前向为主）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贴片在正入射下的有效减缩量：取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−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12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至 −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15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（考虑安防雷达典型入射角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30°–60°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的修正）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整机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24 GHz RCS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减缩量估算：约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7–10 dB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对应探测距离缩短：根据雷达方程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KaTeX_Main"/>
              </a:rPr>
              <a:t>R∝σ1/4</a:t>
            </a:r>
            <a:r>
              <a:rPr lang="en-US" altLang="zh-CN" b="0" i="1" dirty="0">
                <a:solidFill>
                  <a:srgbClr val="0F1115"/>
                </a:solidFill>
                <a:effectLst/>
                <a:latin typeface="KaTeX_Math"/>
              </a:rPr>
              <a:t>R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KaTeX_Main"/>
              </a:rPr>
              <a:t>∝</a:t>
            </a:r>
            <a:r>
              <a:rPr lang="en-US" altLang="zh-CN" b="0" i="1" dirty="0">
                <a:solidFill>
                  <a:srgbClr val="0F1115"/>
                </a:solidFill>
                <a:effectLst/>
                <a:latin typeface="KaTeX_Math"/>
              </a:rPr>
              <a:t>σ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KaTeX_Main"/>
              </a:rPr>
              <a:t>1/4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，减缩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7–10 dB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对应探测距离降至原来的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0.55–0.67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，即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缩短约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33%–45%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4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隐身性能估算</a:t>
            </a:r>
          </a:p>
        </p:txBody>
      </p:sp>
      <p:cxnSp>
        <p:nvCxnSpPr>
          <p:cNvPr id="40" name="slide24_item1">
            <a:extLst>
              <a:ext uri="{FF2B5EF4-FFF2-40B4-BE49-F238E27FC236}">
                <a16:creationId xmlns:a16="http://schemas.microsoft.com/office/drawing/2014/main" id="{9A3739C2-4A1C-4DB6-A4DE-51C03868295A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4_item2">
            <a:extLst>
              <a:ext uri="{FF2B5EF4-FFF2-40B4-BE49-F238E27FC236}">
                <a16:creationId xmlns:a16="http://schemas.microsoft.com/office/drawing/2014/main" id="{C377E9FC-1040-4AC9-97FD-E57E2C3CD8EB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4_item3">
            <a:extLst>
              <a:ext uri="{FF2B5EF4-FFF2-40B4-BE49-F238E27FC236}">
                <a16:creationId xmlns:a16="http://schemas.microsoft.com/office/drawing/2014/main" id="{42109F90-44A1-4935-AE3A-D7D8268B032B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4_item4">
            <a:extLst>
              <a:ext uri="{FF2B5EF4-FFF2-40B4-BE49-F238E27FC236}">
                <a16:creationId xmlns:a16="http://schemas.microsoft.com/office/drawing/2014/main" id="{C9FF28A4-D67D-48AB-8AC6-66CA87B23029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22</a:t>
            </a:r>
          </a:p>
        </p:txBody>
      </p:sp>
      <p:sp>
        <p:nvSpPr>
          <p:cNvPr id="57" name="deck_progress_track_24">
            <a:extLst>
              <a:ext uri="{FF2B5EF4-FFF2-40B4-BE49-F238E27FC236}">
                <a16:creationId xmlns:a16="http://schemas.microsoft.com/office/drawing/2014/main" id="{668FDE22-BAA4-4680-93E4-FC5F27324EF6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8" name="deck_progress_24">
            <a:extLst>
              <a:ext uri="{FF2B5EF4-FFF2-40B4-BE49-F238E27FC236}">
                <a16:creationId xmlns:a16="http://schemas.microsoft.com/office/drawing/2014/main" id="{F6F039BE-AE15-4CFA-9C20-330502961339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4879521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9" name="deck_section_24">
            <a:extLst>
              <a:ext uri="{FF2B5EF4-FFF2-40B4-BE49-F238E27FC236}">
                <a16:creationId xmlns:a16="http://schemas.microsoft.com/office/drawing/2014/main" id="{DA066C9A-9A6B-45DD-8D50-CF3AC601E63D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03  具体设计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8287328-8CDA-42F3-9B45-F8DF1B14AE6C}"/>
              </a:ext>
            </a:extLst>
          </p:cNvPr>
          <p:cNvSpPr txBox="1"/>
          <p:nvPr/>
        </p:nvSpPr>
        <p:spPr>
          <a:xfrm>
            <a:off x="535477" y="1216908"/>
            <a:ext cx="814179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频段 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RCS 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减缩估算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贴片性能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ZCF-SRA-0600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1.0 mm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厚度下，工作频点为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，吸收性能 ≤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-20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（正入射）。积水化学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masa-sorb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系列在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20-100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范围内可调，吸收角度广，耐久性能好，可满足产线工艺自动化要求。该贴片含双面胶，厚度为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1.0 mm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（含双面胶）。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覆盖策略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波长仅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5 mm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，对表面不连续性极为敏感。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Mavic 3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频段的主要散射贡献来自机头前向、机身腹部、天线罩接缝及机身不连续处。预计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专项覆盖面积约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0.02-0.04 m²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，较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24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覆盖面积更小，因为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贴片主要用于处理表面细节散射和缝隙散射。</a:t>
            </a: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RCS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减缩估算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覆盖区域对整机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RCS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的贡献占比：约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40%-50%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频段机身表面散射贡献略低于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24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的前向主导散射）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贴片在正入射下的有效减缩量：取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-15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至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-18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（考虑安防雷达仰角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15°-45°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的入射角修正。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ZCF-SRA-0600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在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40°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入射角下仍可维持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15 dB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以上吸收率，角度修正损失较小）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整机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60 GHz RCS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减缩量估算：约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7-11 dB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对应探测距离缩短：根据雷达方程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KaTeX_Main"/>
              </a:rPr>
              <a:t>R∝σ1/4</a:t>
            </a:r>
            <a:r>
              <a:rPr lang="en-US" altLang="zh-CN" b="0" i="1" dirty="0">
                <a:solidFill>
                  <a:srgbClr val="0F1115"/>
                </a:solidFill>
                <a:effectLst/>
                <a:latin typeface="KaTeX_Math"/>
              </a:rPr>
              <a:t>R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KaTeX_Main"/>
              </a:rPr>
              <a:t>∝</a:t>
            </a:r>
            <a:r>
              <a:rPr lang="en-US" altLang="zh-CN" b="0" i="1" dirty="0">
                <a:solidFill>
                  <a:srgbClr val="0F1115"/>
                </a:solidFill>
                <a:effectLst/>
                <a:latin typeface="KaTeX_Math"/>
              </a:rPr>
              <a:t>σ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KaTeX_Main"/>
              </a:rPr>
              <a:t>1/4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，减缩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7-11 dB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对应探测距离降至原来的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0.53-0.67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，即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缩短约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33%-47%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5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隐身成本估算</a:t>
            </a:r>
          </a:p>
        </p:txBody>
      </p:sp>
      <p:cxnSp>
        <p:nvCxnSpPr>
          <p:cNvPr id="40" name="slide25_item1">
            <a:extLst>
              <a:ext uri="{FF2B5EF4-FFF2-40B4-BE49-F238E27FC236}">
                <a16:creationId xmlns:a16="http://schemas.microsoft.com/office/drawing/2014/main" id="{7A350C76-B2AE-461E-8946-F180D305601C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5_item2">
            <a:extLst>
              <a:ext uri="{FF2B5EF4-FFF2-40B4-BE49-F238E27FC236}">
                <a16:creationId xmlns:a16="http://schemas.microsoft.com/office/drawing/2014/main" id="{564D2172-5892-4261-A3D3-8EC3D03B9C91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5_item3">
            <a:extLst>
              <a:ext uri="{FF2B5EF4-FFF2-40B4-BE49-F238E27FC236}">
                <a16:creationId xmlns:a16="http://schemas.microsoft.com/office/drawing/2014/main" id="{FFB815C8-55AA-400C-B0FE-47497621437B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5_item4">
            <a:extLst>
              <a:ext uri="{FF2B5EF4-FFF2-40B4-BE49-F238E27FC236}">
                <a16:creationId xmlns:a16="http://schemas.microsoft.com/office/drawing/2014/main" id="{EA1CBBB1-AC82-4CD2-A177-8A65D1161ABE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23</a:t>
            </a:r>
          </a:p>
        </p:txBody>
      </p:sp>
      <p:sp>
        <p:nvSpPr>
          <p:cNvPr id="54" name="deck_progress_track_25">
            <a:extLst>
              <a:ext uri="{FF2B5EF4-FFF2-40B4-BE49-F238E27FC236}">
                <a16:creationId xmlns:a16="http://schemas.microsoft.com/office/drawing/2014/main" id="{E2A92C70-C545-4F72-AA5A-B83CF94C04C8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5" name="deck_progress_25">
            <a:extLst>
              <a:ext uri="{FF2B5EF4-FFF2-40B4-BE49-F238E27FC236}">
                <a16:creationId xmlns:a16="http://schemas.microsoft.com/office/drawing/2014/main" id="{AFFF65B2-07B0-4FD0-A544-1A3CF9BCFD98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5101318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6" name="deck_section_25">
            <a:extLst>
              <a:ext uri="{FF2B5EF4-FFF2-40B4-BE49-F238E27FC236}">
                <a16:creationId xmlns:a16="http://schemas.microsoft.com/office/drawing/2014/main" id="{D906D738-7B81-4295-A302-660F89CC9BF2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 dirty="0">
                <a:solidFill>
                  <a:srgbClr val="446C89"/>
                </a:solidFill>
              </a:rPr>
              <a:t>03  </a:t>
            </a:r>
            <a:r>
              <a:rPr sz="900" b="1" dirty="0" err="1">
                <a:solidFill>
                  <a:srgbClr val="446C89"/>
                </a:solidFill>
              </a:rPr>
              <a:t>具体设计</a:t>
            </a:r>
            <a:endParaRPr sz="900" b="1" dirty="0">
              <a:solidFill>
                <a:srgbClr val="446C89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A4A53D-A025-4227-94DC-8A33279BA32C}"/>
              </a:ext>
            </a:extLst>
          </p:cNvPr>
          <p:cNvSpPr txBox="1"/>
          <p:nvPr/>
        </p:nvSpPr>
        <p:spPr>
          <a:xfrm>
            <a:off x="574544" y="958487"/>
            <a:ext cx="81027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24GHz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贴片质量计算</a:t>
            </a: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密度为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2.7 g/cm³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，即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2700 kg/m³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覆盖面积估算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Mavic 3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展开后机身主体投影面积约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347.5 × 283 mm ≈ 0.098 m²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，但实际需要覆盖的区域包括机头前向、机臂前缘和机身腹部，按有效覆盖面积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0.05–0.08 m²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计算。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贴片厚度选择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：选用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 mm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厚度（谐振峰性能最佳）。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质量计算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贴片体积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面积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×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厚度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0.05–0.08 m² × 0.001 m =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5×10⁻⁵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至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8×10⁻⁵ m³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贴片质量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体积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×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密度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(5×10⁻⁵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至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8×10⁻⁵) × 2700 =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135–216 g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质量占比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：相对于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Mavic 3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起飞重量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895 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，贴片增重约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15%–24%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9F840C-CE29-463E-B358-1FEA9D507588}"/>
              </a:ext>
            </a:extLst>
          </p:cNvPr>
          <p:cNvSpPr txBox="1"/>
          <p:nvPr/>
        </p:nvSpPr>
        <p:spPr>
          <a:xfrm>
            <a:off x="574543" y="4017296"/>
            <a:ext cx="79369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GXR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系列标准供货尺寸为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300 × 300 mm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片材。按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 mm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厚度、面积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0.05–0.08 m²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计算：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所需片材数量：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0.05–0.08 m² ÷ 0.09 m²/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片 ≈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1–2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片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国产吸波贴片市场参考价：约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每平方米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200–400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元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材料成本估算：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quote-cjk-patch"/>
              </a:rPr>
              <a:t>约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quote-cjk-patch"/>
              </a:rPr>
              <a:t>100–300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quote-cjk-patch"/>
              </a:rPr>
              <a:t>元</a:t>
            </a:r>
            <a:endParaRPr lang="zh-CN" altLang="en-US" b="0" i="0" dirty="0">
              <a:solidFill>
                <a:srgbClr val="FF000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6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隐身成本估算</a:t>
            </a:r>
          </a:p>
        </p:txBody>
      </p:sp>
      <p:cxnSp>
        <p:nvCxnSpPr>
          <p:cNvPr id="40" name="slide26_item1">
            <a:extLst>
              <a:ext uri="{FF2B5EF4-FFF2-40B4-BE49-F238E27FC236}">
                <a16:creationId xmlns:a16="http://schemas.microsoft.com/office/drawing/2014/main" id="{9C327056-8595-4467-A952-D76528F75E71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6_item2">
            <a:extLst>
              <a:ext uri="{FF2B5EF4-FFF2-40B4-BE49-F238E27FC236}">
                <a16:creationId xmlns:a16="http://schemas.microsoft.com/office/drawing/2014/main" id="{941F817F-62A1-4EF8-9B96-CAA08C7E8601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6_item3">
            <a:extLst>
              <a:ext uri="{FF2B5EF4-FFF2-40B4-BE49-F238E27FC236}">
                <a16:creationId xmlns:a16="http://schemas.microsoft.com/office/drawing/2014/main" id="{03CF1228-5019-43F8-B74D-4D9B35356A90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6_item4">
            <a:extLst>
              <a:ext uri="{FF2B5EF4-FFF2-40B4-BE49-F238E27FC236}">
                <a16:creationId xmlns:a16="http://schemas.microsoft.com/office/drawing/2014/main" id="{0CF4FD42-40E2-4F46-80FD-9A8AFDA26B88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24</a:t>
            </a:r>
          </a:p>
        </p:txBody>
      </p:sp>
      <p:sp>
        <p:nvSpPr>
          <p:cNvPr id="48" name="deck_progress_track_26">
            <a:extLst>
              <a:ext uri="{FF2B5EF4-FFF2-40B4-BE49-F238E27FC236}">
                <a16:creationId xmlns:a16="http://schemas.microsoft.com/office/drawing/2014/main" id="{C2E8C3B3-F422-4F45-8EFA-DFFAA7E0E627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49" name="deck_progress_26">
            <a:extLst>
              <a:ext uri="{FF2B5EF4-FFF2-40B4-BE49-F238E27FC236}">
                <a16:creationId xmlns:a16="http://schemas.microsoft.com/office/drawing/2014/main" id="{ADF85866-E198-4BED-AB01-C4F19B89536E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5323114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0" name="deck_section_26">
            <a:extLst>
              <a:ext uri="{FF2B5EF4-FFF2-40B4-BE49-F238E27FC236}">
                <a16:creationId xmlns:a16="http://schemas.microsoft.com/office/drawing/2014/main" id="{52B67F51-2C30-4978-BDB4-5D749EED20A7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lang="en-US" altLang="zh-CN" sz="900" b="1" dirty="0">
                <a:solidFill>
                  <a:srgbClr val="446C89"/>
                </a:solidFill>
              </a:rPr>
              <a:t>03  </a:t>
            </a:r>
            <a:r>
              <a:rPr lang="zh-CN" altLang="en-US" sz="900" b="1" dirty="0">
                <a:solidFill>
                  <a:srgbClr val="446C89"/>
                </a:solidFill>
              </a:rPr>
              <a:t>具体设计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EEA50A-6516-4AC3-A188-D141D54EB502}"/>
              </a:ext>
            </a:extLst>
          </p:cNvPr>
          <p:cNvSpPr txBox="1"/>
          <p:nvPr/>
        </p:nvSpPr>
        <p:spPr>
          <a:xfrm>
            <a:off x="574866" y="1008462"/>
            <a:ext cx="79942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60GHz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贴片质量计算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密度按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2.5 g/cm³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进行估算。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覆盖面积估算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Mavic 3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展开后机身主体投影面积约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347.5 × 283 mm ≈ 0.098 m²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贴片主要覆盖机身缝隙、天线罩接缝、机头前向细节区域，按有效覆盖面积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0.02-0.04 m²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计算。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贴片厚度选择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：选用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1.0 mm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厚度（含双面胶，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专用）。</a:t>
            </a: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质量计算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贴片体积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面积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×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厚度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0.02-0.04 m² × 0.001 m =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2×10⁻⁵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至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4×10⁻⁵ m³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贴片质量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体积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×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密度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= (2×10⁻⁵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至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4×10⁻⁵) × 2500 =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50-100 g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质量占比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：相对于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Mavic 3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起飞重量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895 g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60 GHz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贴片增重约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5.6%-11.2%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</a:p>
          <a:p>
            <a:pPr algn="l"/>
            <a:endParaRPr lang="zh-CN" alt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ZCF-SRA-0600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属于积水化学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masa-sorb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系列进口毫米波吸收片，单价在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每平方米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1000-1500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元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区间。按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1.0 mm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厚度、面积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0.02-0.04 m²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计算：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所需片材面积：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0.02-0.04 m²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材料成本估算：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quote-cjk-patch"/>
              </a:rPr>
              <a:t>约 </a:t>
            </a:r>
            <a:r>
              <a:rPr lang="en-US" altLang="zh-CN" b="1" i="0" dirty="0">
                <a:solidFill>
                  <a:srgbClr val="FF0000"/>
                </a:solidFill>
                <a:effectLst/>
                <a:latin typeface="quote-cjk-patch"/>
              </a:rPr>
              <a:t>300-600 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quote-cjk-patch"/>
              </a:rPr>
              <a:t>元</a:t>
            </a:r>
            <a:endParaRPr lang="zh-CN" altLang="en-US" b="0" i="0" dirty="0">
              <a:solidFill>
                <a:srgbClr val="FF000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7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  <a:cs typeface="隶书"/>
              </a:rPr>
              <a:t>总核算</a:t>
            </a:r>
            <a:endParaRPr sz="3200" dirty="0">
              <a:solidFill>
                <a:schemeClr val="bg1"/>
              </a:solidFill>
              <a:latin typeface="隶书"/>
              <a:ea typeface="隶书"/>
              <a:cs typeface="隶书"/>
            </a:endParaRPr>
          </a:p>
        </p:txBody>
      </p:sp>
      <p:cxnSp>
        <p:nvCxnSpPr>
          <p:cNvPr id="40" name="slide27_item1">
            <a:extLst>
              <a:ext uri="{FF2B5EF4-FFF2-40B4-BE49-F238E27FC236}">
                <a16:creationId xmlns:a16="http://schemas.microsoft.com/office/drawing/2014/main" id="{91ADC0EC-871C-4160-B679-B2BE85E0B0B6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7_item2">
            <a:extLst>
              <a:ext uri="{FF2B5EF4-FFF2-40B4-BE49-F238E27FC236}">
                <a16:creationId xmlns:a16="http://schemas.microsoft.com/office/drawing/2014/main" id="{3E0244C6-79EB-4166-BC65-37ACB3E8BDD0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7_item3">
            <a:extLst>
              <a:ext uri="{FF2B5EF4-FFF2-40B4-BE49-F238E27FC236}">
                <a16:creationId xmlns:a16="http://schemas.microsoft.com/office/drawing/2014/main" id="{D0041C97-6E62-47AF-9354-65B8D3BF0A20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7_item4">
            <a:extLst>
              <a:ext uri="{FF2B5EF4-FFF2-40B4-BE49-F238E27FC236}">
                <a16:creationId xmlns:a16="http://schemas.microsoft.com/office/drawing/2014/main" id="{2CE32787-14B5-4A55-A5D2-C16309DB128B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25</a:t>
            </a:r>
          </a:p>
        </p:txBody>
      </p:sp>
      <p:sp>
        <p:nvSpPr>
          <p:cNvPr id="49" name="deck_progress_track_27">
            <a:extLst>
              <a:ext uri="{FF2B5EF4-FFF2-40B4-BE49-F238E27FC236}">
                <a16:creationId xmlns:a16="http://schemas.microsoft.com/office/drawing/2014/main" id="{549626CD-19F8-4757-964C-81FCB2BD90F2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0" name="deck_progress_27">
            <a:extLst>
              <a:ext uri="{FF2B5EF4-FFF2-40B4-BE49-F238E27FC236}">
                <a16:creationId xmlns:a16="http://schemas.microsoft.com/office/drawing/2014/main" id="{3C62043F-A6C0-47F2-97BB-3844AAA4788A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5544911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1" name="deck_section_27">
            <a:extLst>
              <a:ext uri="{FF2B5EF4-FFF2-40B4-BE49-F238E27FC236}">
                <a16:creationId xmlns:a16="http://schemas.microsoft.com/office/drawing/2014/main" id="{2173B01C-CDF8-46D4-8F48-301DD4FB485D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lang="en-US" altLang="zh-CN" sz="900" b="1" dirty="0">
                <a:solidFill>
                  <a:srgbClr val="446C89"/>
                </a:solidFill>
              </a:rPr>
              <a:t>03  </a:t>
            </a:r>
            <a:r>
              <a:rPr lang="zh-CN" altLang="en-US" sz="900" b="1" dirty="0">
                <a:solidFill>
                  <a:srgbClr val="446C89"/>
                </a:solidFill>
              </a:rPr>
              <a:t>具体设计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CFBE316-E1F4-4DBC-BF29-934C337B9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0532"/>
              </p:ext>
            </p:extLst>
          </p:nvPr>
        </p:nvGraphicFramePr>
        <p:xfrm>
          <a:off x="742950" y="984872"/>
          <a:ext cx="7667625" cy="229172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53826">
                  <a:extLst>
                    <a:ext uri="{9D8B030D-6E8A-4147-A177-3AD203B41FA5}">
                      <a16:colId xmlns:a16="http://schemas.microsoft.com/office/drawing/2014/main" val="1380238295"/>
                    </a:ext>
                  </a:extLst>
                </a:gridCol>
                <a:gridCol w="1389854">
                  <a:extLst>
                    <a:ext uri="{9D8B030D-6E8A-4147-A177-3AD203B41FA5}">
                      <a16:colId xmlns:a16="http://schemas.microsoft.com/office/drawing/2014/main" val="2350336092"/>
                    </a:ext>
                  </a:extLst>
                </a:gridCol>
                <a:gridCol w="4723945">
                  <a:extLst>
                    <a:ext uri="{9D8B030D-6E8A-4147-A177-3AD203B41FA5}">
                      <a16:colId xmlns:a16="http://schemas.microsoft.com/office/drawing/2014/main" val="3112583991"/>
                    </a:ext>
                  </a:extLst>
                </a:gridCol>
              </a:tblGrid>
              <a:tr h="2850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>
                          <a:effectLst/>
                        </a:rPr>
                        <a:t>指标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86070" marR="95634" marT="59771" marB="597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>
                          <a:effectLst/>
                        </a:rPr>
                        <a:t>评价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95634" marR="95634" marT="59771" marB="597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 dirty="0">
                          <a:effectLst/>
                        </a:rPr>
                        <a:t>说明</a:t>
                      </a:r>
                      <a:endParaRPr lang="zh-CN" altLang="en-US" sz="1700" b="0" dirty="0">
                        <a:effectLst/>
                        <a:latin typeface="quote-cjk-patch"/>
                      </a:endParaRPr>
                    </a:p>
                  </a:txBody>
                  <a:tcPr marL="95634" marR="95634" marT="59771" marB="59771" anchor="ctr"/>
                </a:tc>
                <a:extLst>
                  <a:ext uri="{0D108BD9-81ED-4DB2-BD59-A6C34878D82A}">
                    <a16:rowId xmlns:a16="http://schemas.microsoft.com/office/drawing/2014/main" val="240101668"/>
                  </a:ext>
                </a:extLst>
              </a:tr>
              <a:tr h="6285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>
                          <a:effectLst/>
                        </a:rPr>
                        <a:t>低成本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86070" marR="95634" marT="59771" marB="597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>
                          <a:effectLst/>
                        </a:rPr>
                        <a:t>中等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95634" marR="95634" marT="59771" marB="597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 dirty="0">
                          <a:effectLst/>
                        </a:rPr>
                        <a:t>总改装约 </a:t>
                      </a:r>
                      <a:r>
                        <a:rPr lang="en-US" altLang="zh-CN" sz="1700" b="0" dirty="0">
                          <a:effectLst/>
                        </a:rPr>
                        <a:t>500–1100 </a:t>
                      </a:r>
                      <a:r>
                        <a:rPr lang="zh-CN" altLang="en-US" sz="1700" b="0" dirty="0">
                          <a:effectLst/>
                        </a:rPr>
                        <a:t>元，国产</a:t>
                      </a:r>
                      <a:r>
                        <a:rPr lang="en-US" altLang="zh-CN" sz="1700" b="0" dirty="0">
                          <a:effectLst/>
                        </a:rPr>
                        <a:t>+</a:t>
                      </a:r>
                      <a:r>
                        <a:rPr lang="zh-CN" altLang="en-US" sz="1700" b="0" dirty="0">
                          <a:effectLst/>
                        </a:rPr>
                        <a:t>进口组合，性价比可控</a:t>
                      </a:r>
                      <a:endParaRPr lang="zh-CN" altLang="en-US" sz="1700" b="0" dirty="0">
                        <a:effectLst/>
                        <a:latin typeface="quote-cjk-patch"/>
                      </a:endParaRPr>
                    </a:p>
                  </a:txBody>
                  <a:tcPr marL="95634" marR="86070" marT="59771" marB="59771" anchor="ctr"/>
                </a:tc>
                <a:extLst>
                  <a:ext uri="{0D108BD9-81ED-4DB2-BD59-A6C34878D82A}">
                    <a16:rowId xmlns:a16="http://schemas.microsoft.com/office/drawing/2014/main" val="3490274419"/>
                  </a:ext>
                </a:extLst>
              </a:tr>
              <a:tr h="6285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>
                          <a:effectLst/>
                        </a:rPr>
                        <a:t>轻量化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86070" marR="95634" marT="59771" marB="597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>
                          <a:effectLst/>
                        </a:rPr>
                        <a:t>中等偏重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95634" marR="95634" marT="59771" marB="597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>
                          <a:effectLst/>
                        </a:rPr>
                        <a:t>总增重 </a:t>
                      </a:r>
                      <a:r>
                        <a:rPr lang="en-US" altLang="zh-CN" sz="1700" b="0">
                          <a:effectLst/>
                        </a:rPr>
                        <a:t>185–316 g</a:t>
                      </a:r>
                      <a:r>
                        <a:rPr lang="zh-CN" altLang="en-US" sz="1700" b="0">
                          <a:effectLst/>
                        </a:rPr>
                        <a:t>，对 </a:t>
                      </a:r>
                      <a:r>
                        <a:rPr lang="en-US" altLang="zh-CN" sz="1700" b="0">
                          <a:effectLst/>
                        </a:rPr>
                        <a:t>Mavic 3 </a:t>
                      </a:r>
                      <a:r>
                        <a:rPr lang="zh-CN" altLang="en-US" sz="1700" b="0">
                          <a:effectLst/>
                        </a:rPr>
                        <a:t>而言占比较高，但贴片薄、柔性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95634" marR="86070" marT="59771" marB="59771" anchor="ctr"/>
                </a:tc>
                <a:extLst>
                  <a:ext uri="{0D108BD9-81ED-4DB2-BD59-A6C34878D82A}">
                    <a16:rowId xmlns:a16="http://schemas.microsoft.com/office/drawing/2014/main" val="2586292073"/>
                  </a:ext>
                </a:extLst>
              </a:tr>
              <a:tr h="5134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>
                          <a:effectLst/>
                        </a:rPr>
                        <a:t>便携性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86070" marR="95634" marT="59771" marB="597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>
                          <a:effectLst/>
                        </a:rPr>
                        <a:t>中等</a:t>
                      </a:r>
                      <a:endParaRPr lang="zh-CN" altLang="en-US" sz="1700" b="0">
                        <a:effectLst/>
                        <a:latin typeface="quote-cjk-patch"/>
                      </a:endParaRPr>
                    </a:p>
                  </a:txBody>
                  <a:tcPr marL="95634" marR="95634" marT="59771" marB="597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0" dirty="0">
                          <a:effectLst/>
                        </a:rPr>
                        <a:t>贴片不影响折叠，但续航下降明显，适合短时任务</a:t>
                      </a:r>
                      <a:endParaRPr lang="zh-CN" altLang="en-US" sz="1700" b="0" dirty="0">
                        <a:effectLst/>
                        <a:latin typeface="quote-cjk-patch"/>
                      </a:endParaRPr>
                    </a:p>
                  </a:txBody>
                  <a:tcPr marL="95634" marR="86070" marT="59771" marB="59771" anchor="ctr"/>
                </a:tc>
                <a:extLst>
                  <a:ext uri="{0D108BD9-81ED-4DB2-BD59-A6C34878D82A}">
                    <a16:rowId xmlns:a16="http://schemas.microsoft.com/office/drawing/2014/main" val="30665433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753004F-A57B-4DF6-B021-9DE8CDF92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117068"/>
              </p:ext>
            </p:extLst>
          </p:nvPr>
        </p:nvGraphicFramePr>
        <p:xfrm>
          <a:off x="752475" y="3581401"/>
          <a:ext cx="7658100" cy="1478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223723483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548433499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707972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>
                          <a:effectLst/>
                        </a:rPr>
                        <a:t>措施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</a:rPr>
                        <a:t>预期贡献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>
                          <a:effectLst/>
                        </a:rPr>
                        <a:t>增重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成本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036997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effectLst/>
                        </a:rPr>
                        <a:t>外形细节优化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</a:rPr>
                        <a:t>额外 </a:t>
                      </a:r>
                      <a:r>
                        <a:rPr lang="en-US" altLang="zh-CN" b="0" dirty="0">
                          <a:effectLst/>
                        </a:rPr>
                        <a:t>RCS </a:t>
                      </a:r>
                      <a:r>
                        <a:rPr lang="zh-CN" altLang="en-US" b="0" dirty="0">
                          <a:effectLst/>
                        </a:rPr>
                        <a:t>减缩 </a:t>
                      </a:r>
                      <a:r>
                        <a:rPr lang="en-US" altLang="zh-CN" b="0" dirty="0">
                          <a:effectLst/>
                        </a:rPr>
                        <a:t>2–6 dB</a:t>
                      </a:r>
                      <a:endParaRPr lang="en-US" altLang="zh-CN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effectLst/>
                        </a:rPr>
                        <a:t>&lt;80 g / &lt;300 </a:t>
                      </a:r>
                      <a:r>
                        <a:rPr lang="zh-CN" altLang="en-US" b="0">
                          <a:effectLst/>
                        </a:rPr>
                        <a:t>元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484104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effectLst/>
                        </a:rPr>
                        <a:t>低</a:t>
                      </a:r>
                      <a:r>
                        <a:rPr lang="en-US" b="1">
                          <a:effectLst/>
                        </a:rPr>
                        <a:t>RCS</a:t>
                      </a:r>
                      <a:r>
                        <a:rPr lang="zh-CN" altLang="en-US" b="1">
                          <a:effectLst/>
                        </a:rPr>
                        <a:t>天线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</a:rPr>
                        <a:t>降低前向天线散射，需实测验证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dirty="0">
                          <a:effectLst/>
                        </a:rPr>
                        <a:t>替换现有天线，不额外增重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919912848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9FF8ABFA-48B5-4A86-BC3D-26F27C70A0B8}"/>
              </a:ext>
            </a:extLst>
          </p:cNvPr>
          <p:cNvSpPr txBox="1"/>
          <p:nvPr/>
        </p:nvSpPr>
        <p:spPr>
          <a:xfrm>
            <a:off x="752475" y="5364482"/>
            <a:ext cx="7677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以约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200–300 g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增重、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500–700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元成本，换取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24/60 GHz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安防雷达探测距离缩短约 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1/3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8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优化应用案例</a:t>
            </a:r>
          </a:p>
        </p:txBody>
      </p:sp>
      <p:cxnSp>
        <p:nvCxnSpPr>
          <p:cNvPr id="40" name="slide28_item1">
            <a:extLst>
              <a:ext uri="{FF2B5EF4-FFF2-40B4-BE49-F238E27FC236}">
                <a16:creationId xmlns:a16="http://schemas.microsoft.com/office/drawing/2014/main" id="{A5851675-3D89-4BED-97BC-875EC989F8D6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8_item2">
            <a:extLst>
              <a:ext uri="{FF2B5EF4-FFF2-40B4-BE49-F238E27FC236}">
                <a16:creationId xmlns:a16="http://schemas.microsoft.com/office/drawing/2014/main" id="{974116C4-E521-44EA-9F4C-84171CBB9FD8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8_item3">
            <a:extLst>
              <a:ext uri="{FF2B5EF4-FFF2-40B4-BE49-F238E27FC236}">
                <a16:creationId xmlns:a16="http://schemas.microsoft.com/office/drawing/2014/main" id="{F6893616-9CF7-4852-B3A2-81B4066E0FEB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8_item4">
            <a:extLst>
              <a:ext uri="{FF2B5EF4-FFF2-40B4-BE49-F238E27FC236}">
                <a16:creationId xmlns:a16="http://schemas.microsoft.com/office/drawing/2014/main" id="{8A1FA094-20DC-4335-8B63-67C620148379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26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7845EF6A-79C8-4310-B4E9-8F2F4E2DB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" r="47"/>
          <a:stretch>
            <a:fillRect/>
          </a:stretch>
        </p:blipFill>
        <p:spPr>
          <a:xfrm>
            <a:off x="785813" y="4624387"/>
            <a:ext cx="3408374" cy="1920051"/>
          </a:xfrm>
          <a:prstGeom prst="rect">
            <a:avLst/>
          </a:prstGeom>
        </p:spPr>
      </p:pic>
      <p:sp>
        <p:nvSpPr>
          <p:cNvPr id="50" name="deck_progress_track_28">
            <a:extLst>
              <a:ext uri="{FF2B5EF4-FFF2-40B4-BE49-F238E27FC236}">
                <a16:creationId xmlns:a16="http://schemas.microsoft.com/office/drawing/2014/main" id="{64D6E20F-A4C5-4898-A36A-27BCCC9C964F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1" name="deck_progress_28">
            <a:extLst>
              <a:ext uri="{FF2B5EF4-FFF2-40B4-BE49-F238E27FC236}">
                <a16:creationId xmlns:a16="http://schemas.microsoft.com/office/drawing/2014/main" id="{68C3F1A2-4ED5-4678-927D-DECDD56546C1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5766707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2" name="deck_section_28">
            <a:extLst>
              <a:ext uri="{FF2B5EF4-FFF2-40B4-BE49-F238E27FC236}">
                <a16:creationId xmlns:a16="http://schemas.microsoft.com/office/drawing/2014/main" id="{3D732715-C6FA-4E1D-8D62-4BDDCE71E3FA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04  实际验证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54F853-47D1-4BB7-9DA3-A4D574A78C78}"/>
              </a:ext>
            </a:extLst>
          </p:cNvPr>
          <p:cNvSpPr txBox="1"/>
          <p:nvPr/>
        </p:nvSpPr>
        <p:spPr>
          <a:xfrm>
            <a:off x="407641" y="902493"/>
            <a:ext cx="854585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1.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无人目标机隐身改装（吸波涂层）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一篇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2020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年的研究对某型无人目标机进行了隐身优化设计与改装。研究人员采用以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碳纳米管（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CNTs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为主吸收剂的轻质电损耗型吸波涂层，对整机进行涂覆处理。飞行试验结果表明，涂覆后无人机的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RCS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缩减程度达到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20 dB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左右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，机体的强散射中心特征得到有效减弱。这个案例直接验证了通过涂层进行整机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RCS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减缩的可行性，其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20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的减缩量级远高于我们方案中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7-11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的保守估算，说明通过材料优化仍有较大性能提升空间。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2.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深圳星航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XRAM-C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系列吸波涂层（商业产品）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深圳星航科技已将其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XRAM-C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系列雷达吸波涂料商业化。该产品在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8-12 GHz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X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波段）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可提供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至少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3.0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的雷达反射损耗，涂层厚度仅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0.40-0.60 mm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。产品按公斤销售，可通过喷枪施工，无需复杂设备。这为方案提供了一个现成的、可喷涂的低成本选项，尤其适合复杂曲面的无人机。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6EEA07-C313-4E91-BB2F-1EA2CAC68E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235" b="5224"/>
          <a:stretch/>
        </p:blipFill>
        <p:spPr>
          <a:xfrm>
            <a:off x="4949815" y="4624387"/>
            <a:ext cx="2991027" cy="188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9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优化应用案例</a:t>
            </a:r>
          </a:p>
        </p:txBody>
      </p:sp>
      <p:cxnSp>
        <p:nvCxnSpPr>
          <p:cNvPr id="40" name="slide29_item1">
            <a:extLst>
              <a:ext uri="{FF2B5EF4-FFF2-40B4-BE49-F238E27FC236}">
                <a16:creationId xmlns:a16="http://schemas.microsoft.com/office/drawing/2014/main" id="{580D9C13-D04C-4A82-BB63-D3CEC110663B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9_item2">
            <a:extLst>
              <a:ext uri="{FF2B5EF4-FFF2-40B4-BE49-F238E27FC236}">
                <a16:creationId xmlns:a16="http://schemas.microsoft.com/office/drawing/2014/main" id="{16AEECA9-22A0-4172-8EF4-718F03BEB5CF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9_item3">
            <a:extLst>
              <a:ext uri="{FF2B5EF4-FFF2-40B4-BE49-F238E27FC236}">
                <a16:creationId xmlns:a16="http://schemas.microsoft.com/office/drawing/2014/main" id="{45F2CD7F-7C40-493B-A9F3-C85A38BADE33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9_item4">
            <a:extLst>
              <a:ext uri="{FF2B5EF4-FFF2-40B4-BE49-F238E27FC236}">
                <a16:creationId xmlns:a16="http://schemas.microsoft.com/office/drawing/2014/main" id="{968658F8-D2EA-4436-829B-3AA48C95EBF6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27</a:t>
            </a:r>
          </a:p>
        </p:txBody>
      </p:sp>
      <p:sp>
        <p:nvSpPr>
          <p:cNvPr id="54" name="deck_progress_track_29">
            <a:extLst>
              <a:ext uri="{FF2B5EF4-FFF2-40B4-BE49-F238E27FC236}">
                <a16:creationId xmlns:a16="http://schemas.microsoft.com/office/drawing/2014/main" id="{0D359DF0-95D0-446B-982D-0A399A3E4794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5" name="deck_progress_29">
            <a:extLst>
              <a:ext uri="{FF2B5EF4-FFF2-40B4-BE49-F238E27FC236}">
                <a16:creationId xmlns:a16="http://schemas.microsoft.com/office/drawing/2014/main" id="{C19207FD-0848-4E81-B4BD-D1474244DFB0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5988504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6" name="deck_section_29">
            <a:extLst>
              <a:ext uri="{FF2B5EF4-FFF2-40B4-BE49-F238E27FC236}">
                <a16:creationId xmlns:a16="http://schemas.microsoft.com/office/drawing/2014/main" id="{0BA99648-2CC7-41A6-A253-BD64FAD3849D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04  实际验证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E0505D-BCAD-4C79-8AF4-C28899D9D443}"/>
              </a:ext>
            </a:extLst>
          </p:cNvPr>
          <p:cNvSpPr txBox="1"/>
          <p:nvPr/>
        </p:nvSpPr>
        <p:spPr>
          <a:xfrm>
            <a:off x="348414" y="1096823"/>
            <a:ext cx="84243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3.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土耳其</a:t>
            </a:r>
            <a:r>
              <a:rPr lang="en-US" altLang="zh-CN" b="1" i="0" dirty="0" err="1">
                <a:solidFill>
                  <a:srgbClr val="0F1115"/>
                </a:solidFill>
                <a:effectLst/>
                <a:latin typeface="quote-cjk-patch"/>
              </a:rPr>
              <a:t>Kürşat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 3.0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喷涂式吸波材料（商业产品）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土耳其研究人员开发的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quote-cjk-patch"/>
              </a:rPr>
              <a:t>Kürşat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 3.0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是一种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喷涂式雷达吸波材料（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RAM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，其原料为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火山玄武岩和浮石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。据称，该材料在测试中实现了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43.2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的反射损耗，远超传统吸波材料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20-30 dB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的水平。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endParaRPr lang="en-US" altLang="zh-CN" dirty="0">
              <a:solidFill>
                <a:srgbClr val="0F1115"/>
              </a:solidFill>
              <a:latin typeface="quote-cjk-patch"/>
            </a:endParaRPr>
          </a:p>
          <a:p>
            <a:pPr algn="l"/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4.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超薄柔性超表面吸波体（学术研究）</a:t>
            </a:r>
            <a:b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多项学术研究提出了用于无人机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RCS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减缩的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超薄、柔性、极化不敏感的超表面吸波体（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MSA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 。这些吸波体由电阻贴片构成，可排列在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厚度仅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0.27 mm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的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PET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基板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上，其厚度约为工作波长的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1/100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。研究明确指出，这类吸波体适用于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无人机曲面涂覆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，且不会降低无人机的航空或阻力性能。这为方案中“柔性吸波贴片”的选择提供了前沿的技术参考。</a:t>
            </a:r>
          </a:p>
        </p:txBody>
      </p:sp>
    </p:spTree>
    <p:extLst>
      <p:ext uri="{BB962C8B-B14F-4D97-AF65-F5344CB8AC3E}">
        <p14:creationId xmlns:p14="http://schemas.microsoft.com/office/powerpoint/2010/main" val="671326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29_item0">
            <a:extLst>
              <a:ext uri="{FF2B5EF4-FFF2-40B4-BE49-F238E27FC236}">
                <a16:creationId xmlns:a16="http://schemas.microsoft.com/office/drawing/2014/main" id="{CB01934F-3322-4880-A867-2E3BD2805A24}"/>
              </a:ext>
            </a:extLst>
          </p:cNvPr>
          <p:cNvSpPr>
            <a:spLocks noGrp="1"/>
          </p:cNvSpPr>
          <p:nvPr/>
        </p:nvSpPr>
        <p:spPr>
          <a:xfrm>
            <a:off x="1466850" y="190500"/>
            <a:ext cx="6210300" cy="514350"/>
          </a:xfrm>
          <a:prstGeom prst="rect">
            <a:avLst/>
          </a:prstGeom>
          <a:solidFill>
            <a:srgbClr val="446C89"/>
          </a:solidFill>
        </p:spPr>
        <p:txBody>
          <a:bodyPr lIns="19050" tIns="19050" rIns="19050" bIns="19050" anchor="ctr"/>
          <a:lstStyle>
            <a:defPPr algn="ctr">
              <a:defRPr sz="1875" b="1">
                <a:solidFill>
                  <a:srgbClr val="FFFFFF"/>
                </a:solidFill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lang="zh-CN" altLang="en-US" sz="1875" b="1" dirty="0">
                <a:solidFill>
                  <a:srgbClr val="FFFFFF"/>
                </a:solidFill>
                <a:latin typeface="隶书"/>
                <a:ea typeface="隶书"/>
              </a:rPr>
              <a:t>尾声</a:t>
            </a:r>
          </a:p>
        </p:txBody>
      </p:sp>
      <p:cxnSp>
        <p:nvCxnSpPr>
          <p:cNvPr id="40" name="slide29_item1">
            <a:extLst>
              <a:ext uri="{FF2B5EF4-FFF2-40B4-BE49-F238E27FC236}">
                <a16:creationId xmlns:a16="http://schemas.microsoft.com/office/drawing/2014/main" id="{580D9C13-D04C-4A82-BB63-D3CEC110663B}"/>
              </a:ext>
            </a:extLst>
          </p:cNvPr>
          <p:cNvCxnSpPr>
            <a:endCxn id="39" idx="1"/>
          </p:cNvCxnSpPr>
          <p:nvPr/>
        </p:nvCxnSpPr>
        <p:spPr>
          <a:xfrm>
            <a:off x="0" y="444137"/>
            <a:ext cx="1466850" cy="3538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lide29_item2">
            <a:extLst>
              <a:ext uri="{FF2B5EF4-FFF2-40B4-BE49-F238E27FC236}">
                <a16:creationId xmlns:a16="http://schemas.microsoft.com/office/drawing/2014/main" id="{16AEECA9-22A0-4172-8EF4-718F03BEB5CF}"/>
              </a:ext>
            </a:extLst>
          </p:cNvPr>
          <p:cNvCxnSpPr>
            <a:stCxn id="39" idx="3"/>
          </p:cNvCxnSpPr>
          <p:nvPr/>
        </p:nvCxnSpPr>
        <p:spPr>
          <a:xfrm flipV="1">
            <a:off x="7677150" y="444138"/>
            <a:ext cx="1466850" cy="3537"/>
          </a:xfrm>
          <a:prstGeom prst="straightConnector1">
            <a:avLst/>
          </a:prstGeom>
          <a:ln w="25400">
            <a:solidFill>
              <a:srgbClr val="5482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29_item3">
            <a:extLst>
              <a:ext uri="{FF2B5EF4-FFF2-40B4-BE49-F238E27FC236}">
                <a16:creationId xmlns:a16="http://schemas.microsoft.com/office/drawing/2014/main" id="{45F2CD7F-7C40-493B-A9F3-C85A38BADE33}"/>
              </a:ext>
            </a:extLst>
          </p:cNvPr>
          <p:cNvSpPr>
            <a:spLocks noGrp="1"/>
          </p:cNvSpPr>
          <p:nvPr/>
        </p:nvSpPr>
        <p:spPr>
          <a:xfrm>
            <a:off x="466725" y="6419850"/>
            <a:ext cx="76676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975" b="0">
                <a:solidFill>
                  <a:srgbClr val="637480"/>
                </a:solidFill>
              </a:defRPr>
            </a:defPPr>
          </a:lstStyle>
          <a:p>
            <a:pPr algn="l">
              <a:buNone/>
              <a:defRPr sz="975" b="0">
                <a:solidFill>
                  <a:srgbClr val="637480"/>
                </a:solidFill>
              </a:defRPr>
            </a:pPr>
            <a:endParaRPr/>
          </a:p>
        </p:txBody>
      </p:sp>
      <p:sp>
        <p:nvSpPr>
          <p:cNvPr id="43" name="slide29_item4">
            <a:extLst>
              <a:ext uri="{FF2B5EF4-FFF2-40B4-BE49-F238E27FC236}">
                <a16:creationId xmlns:a16="http://schemas.microsoft.com/office/drawing/2014/main" id="{968658F8-D2EA-4436-829B-3AA48C95EBF6}"/>
              </a:ext>
            </a:extLst>
          </p:cNvPr>
          <p:cNvSpPr>
            <a:spLocks noGrp="1"/>
          </p:cNvSpPr>
          <p:nvPr/>
        </p:nvSpPr>
        <p:spPr>
          <a:xfrm>
            <a:off x="8315325" y="6419850"/>
            <a:ext cx="3619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446C89"/>
                </a:solidFill>
              </a:defRPr>
            </a:defPPr>
          </a:lstStyle>
          <a:p>
            <a:pPr algn="l">
              <a:buNone/>
              <a:defRPr sz="1125" b="0">
                <a:solidFill>
                  <a:srgbClr val="446C89"/>
                </a:solidFill>
              </a:defRPr>
            </a:pPr>
            <a:r>
              <a:rPr sz="1125" b="0">
                <a:solidFill>
                  <a:srgbClr val="446C89"/>
                </a:solidFill>
              </a:rPr>
              <a:t>28</a:t>
            </a:r>
          </a:p>
        </p:txBody>
      </p:sp>
      <p:sp>
        <p:nvSpPr>
          <p:cNvPr id="54" name="deck_progress_track_29">
            <a:extLst>
              <a:ext uri="{FF2B5EF4-FFF2-40B4-BE49-F238E27FC236}">
                <a16:creationId xmlns:a16="http://schemas.microsoft.com/office/drawing/2014/main" id="{0D359DF0-95D0-446B-982D-0A399A3E4794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D7E2EA"/>
          </a:solidFill>
          <a:ln w="0">
            <a:noFill/>
          </a:ln>
        </p:spPr>
      </p:sp>
      <p:sp>
        <p:nvSpPr>
          <p:cNvPr id="55" name="deck_progress_29">
            <a:extLst>
              <a:ext uri="{FF2B5EF4-FFF2-40B4-BE49-F238E27FC236}">
                <a16:creationId xmlns:a16="http://schemas.microsoft.com/office/drawing/2014/main" id="{C19207FD-0848-4E81-B4BD-D1474244DFB0}"/>
              </a:ext>
            </a:extLst>
          </p:cNvPr>
          <p:cNvSpPr>
            <a:spLocks noGrp="1"/>
          </p:cNvSpPr>
          <p:nvPr/>
        </p:nvSpPr>
        <p:spPr>
          <a:xfrm>
            <a:off x="1466850" y="742950"/>
            <a:ext cx="6210300" cy="19050"/>
          </a:xfrm>
          <a:prstGeom prst="roundRect">
            <a:avLst>
              <a:gd name="adj" fmla="val 50000"/>
            </a:avLst>
          </a:prstGeom>
          <a:solidFill>
            <a:srgbClr val="BD433F"/>
          </a:solidFill>
          <a:ln w="0">
            <a:noFill/>
          </a:ln>
        </p:spPr>
      </p:sp>
      <p:sp>
        <p:nvSpPr>
          <p:cNvPr id="56" name="deck_section_29">
            <a:extLst>
              <a:ext uri="{FF2B5EF4-FFF2-40B4-BE49-F238E27FC236}">
                <a16:creationId xmlns:a16="http://schemas.microsoft.com/office/drawing/2014/main" id="{0BA99648-2CC7-41A6-A253-BD64FAD3849D}"/>
              </a:ext>
            </a:extLst>
          </p:cNvPr>
          <p:cNvSpPr>
            <a:spLocks noGrp="1"/>
          </p:cNvSpPr>
          <p:nvPr/>
        </p:nvSpPr>
        <p:spPr>
          <a:xfrm>
            <a:off x="7762875" y="209550"/>
            <a:ext cx="1190625" cy="2095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/>
          <a:lstStyle>
            <a:defPPr algn="ctr">
              <a:defRPr sz="900" b="1">
                <a:solidFill>
                  <a:srgbClr val="446C89"/>
                </a:solidFill>
              </a:defRPr>
            </a:defPPr>
          </a:lstStyle>
          <a:p>
            <a:pPr algn="ctr">
              <a:buNone/>
              <a:defRPr sz="900" b="1">
                <a:solidFill>
                  <a:srgbClr val="446C89"/>
                </a:solidFill>
              </a:defRPr>
            </a:pPr>
            <a:r>
              <a:rPr sz="900" b="1">
                <a:solidFill>
                  <a:srgbClr val="446C89"/>
                </a:solidFill>
              </a:rPr>
              <a:t>04  实际验证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7746F99-B88A-4D49-A071-E66C762592FE}"/>
              </a:ext>
            </a:extLst>
          </p:cNvPr>
          <p:cNvSpPr txBox="1"/>
          <p:nvPr/>
        </p:nvSpPr>
        <p:spPr>
          <a:xfrm>
            <a:off x="2550695" y="2362021"/>
            <a:ext cx="5022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/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4007515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自定义 2">
      <a:majorFont>
        <a:latin typeface="Broadway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自定义 2">
      <a:majorFont>
        <a:latin typeface="Broadway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3762</Words>
  <Application>Microsoft Office PowerPoint</Application>
  <DocSecurity>0</DocSecurity>
  <PresentationFormat>全屏显示(4:3)</PresentationFormat>
  <Paragraphs>468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KaTeX_Main</vt:lpstr>
      <vt:lpstr>KaTeX_Math</vt:lpstr>
      <vt:lpstr>quote-cjk-patch</vt:lpstr>
      <vt:lpstr>隶书</vt:lpstr>
      <vt:lpstr>Microsoft YaHei</vt:lpstr>
      <vt:lpstr>Microsoft YaHei</vt:lpstr>
      <vt:lpstr>Arial</vt:lpstr>
      <vt:lpstr>Tahoma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靖凯 童</cp:lastModifiedBy>
  <cp:revision>113</cp:revision>
  <dcterms:created xsi:type="dcterms:W3CDTF">2026-10-08T08:35:52Z</dcterms:created>
  <dcterms:modified xsi:type="dcterms:W3CDTF">2026-10-08T12:56:50Z</dcterms:modified>
</cp:coreProperties>
</file>